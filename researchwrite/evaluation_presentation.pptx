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Detection and Robotic Manipulation of Partially Occluded Object(s)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9FC5DD"/>
                </a:solidFill>
                <a:latin typeface="Calibri"/>
              </a:rPr>
              <a:t>Detecting partially occluded cylindrical objects for robotic manipulation: a multi-method comparison in 3D point clouds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C9D6E0"/>
                </a:solidFill>
                <a:latin typeface="Calibri"/>
              </a:rPr>
              <a:t>Master's thesis  ·  evaluation review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C9D6E0"/>
                </a:solidFill>
                <a:latin typeface="Calibri"/>
              </a:rPr>
              <a:t>[FILL: presenter]   ·   supervisor: [FILL: supervisor]   ·   [FILL: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bin-picking problem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A robot must pick objects out of an unordered pile</a:t>
            </a:r>
          </a:p>
        </p:txBody>
      </p:sp>
      <p:pic>
        <p:nvPicPr>
          <p:cNvPr id="4" name="Picture 3" descr="binpicking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122" y="1325880"/>
            <a:ext cx="9445275" cy="44805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Before the robot can grasp anything, it must know exactly where each object is and how it 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Our case is harder: the objects are covered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Real scan: 200-litre steel drums, tumbled and partially buried</a:t>
            </a:r>
          </a:p>
        </p:txBody>
      </p:sp>
      <p:pic>
        <p:nvPicPr>
          <p:cNvPr id="4" name="Picture 3" descr="station1_pile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59280"/>
            <a:ext cx="8229600" cy="3413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32520" y="1554480"/>
            <a:ext cx="3246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Drums lie in arbitrary directions.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Sand and other drums hide most of each drum.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The sensor sees the pile from one side only.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B76E00"/>
                </a:solidFill>
                <a:latin typeface="Calibri"/>
              </a:rPr>
              <a:t>Each drum shows the sensor only a small patch of its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Our task: fit a cylinder to the visible points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“Fitting” = choosing model parameters so the model matches the measured points as well as possible</a:t>
            </a:r>
          </a:p>
        </p:txBody>
      </p:sp>
      <p:pic>
        <p:nvPicPr>
          <p:cNvPr id="4" name="Picture 3" descr="fitting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96169"/>
            <a:ext cx="11475720" cy="393998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B76E00"/>
                </a:solidFill>
                <a:latin typeface="Calibri"/>
              </a:rPr>
              <a:t>The less of the barrel we see, the more cylinders explain the same points — that is the core difficulty.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Existing solutions — three families of methods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From an 18-method literature survey; judged by how they cope with hidden objects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758184" cy="54864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Geometry-based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3758184" cy="3794760"/>
          </a:xfrm>
          <a:prstGeom prst="rect">
            <a:avLst/>
          </a:prstGeom>
          <a:solidFill>
            <a:srgbClr val="F2F5F8"/>
          </a:solidFill>
          <a:ln w="15875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/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F2D3D"/>
                </a:solidFill>
                <a:latin typeface="Calibri"/>
              </a:rPr>
              <a:t>Search the 3D points directly for cylinder shapes.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2E7D32"/>
                </a:solidFill>
                <a:latin typeface="Calibri"/>
              </a:rPr>
              <a:t>+ Works out of the box — no training data needed.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B02A2A"/>
                </a:solidFill>
                <a:latin typeface="Calibri"/>
              </a:rPr>
              <a:t>− Needs enough visible points; touching drums get merged.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24528" y="1371600"/>
            <a:ext cx="3758184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Learning-based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224528" y="1920240"/>
            <a:ext cx="3758184" cy="3794760"/>
          </a:xfrm>
          <a:prstGeom prst="rect">
            <a:avLst/>
          </a:prstGeom>
          <a:solidFill>
            <a:srgbClr val="F2F5F8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/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F2D3D"/>
                </a:solidFill>
                <a:latin typeface="Calibri"/>
              </a:rPr>
              <a:t>A neural network learns what partial barrels look like from many examples.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2E7D32"/>
                </a:solidFill>
                <a:latin typeface="Calibri"/>
              </a:rPr>
              <a:t>+ Can recognise a barrel from a small fragment.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B02A2A"/>
                </a:solidFill>
                <a:latin typeface="Calibri"/>
              </a:rPr>
              <a:t>− Needs lots of labelled training examples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83296" y="1371600"/>
            <a:ext cx="3758184" cy="548640"/>
          </a:xfrm>
          <a:prstGeom prst="rect">
            <a:avLst/>
          </a:prstGeom>
          <a:solidFill>
            <a:srgbClr val="B7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Camera + LiDAR</a:t>
            </a:r>
          </a:p>
        </p:txBody>
      </p:sp>
      <p:sp>
        <p:nvSpPr>
          <p:cNvPr id="9" name="Rectangle 8"/>
          <p:cNvSpPr/>
          <p:nvPr/>
        </p:nvSpPr>
        <p:spPr>
          <a:xfrm>
            <a:off x="8083296" y="1920240"/>
            <a:ext cx="3758184" cy="3794760"/>
          </a:xfrm>
          <a:prstGeom prst="rect">
            <a:avLst/>
          </a:prstGeom>
          <a:solidFill>
            <a:srgbClr val="F2F5F8"/>
          </a:solidFill>
          <a:ln w="15875"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/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F2D3D"/>
                </a:solidFill>
                <a:latin typeface="Calibri"/>
              </a:rPr>
              <a:t>Combine colour images with the 3D points.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2E7D32"/>
                </a:solidFill>
                <a:latin typeface="Calibri"/>
              </a:rPr>
              <a:t>+ If one sensor is blocked, the other still sees the object.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B02A2A"/>
                </a:solidFill>
                <a:latin typeface="Calibri"/>
              </a:rPr>
              <a:t>− Both sensors must be aligned precisely — errors break the pairing.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Plan: start with the geometry-based family (no data needed), then add learning and fusion as data arrives.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Four geometry-based methods implemented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Each explained in one sentence — details on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3385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3DTK Hough (baseline) — every point votes for the cylinders it could lie on; the strongest vote wins.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RANSAC fit — try many random small point samples, keep the cylinder most points agree with.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Least-squares fit — start from a rough guess, then adjust the cylinder until it matches the points best.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Efficient RANSAC — a faster RANSAC variant that searches the whole scene for shapes in one pass.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1" y="3977639"/>
            <a:ext cx="4983477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94360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All four: LiDAR points only · no training data · identical input and output — directly comparable.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How we evaluate — one pipeline for every method</a:t>
            </a:r>
          </a:p>
        </p:txBody>
      </p:sp>
      <p:pic>
        <p:nvPicPr>
          <p:cNvPr id="4" name="Picture 3" descr="pip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47238"/>
            <a:ext cx="11612880" cy="323784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85216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A prediction counts as correct if direction is within 30° and the centre within 10 cm of the true drum.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Experiment 1 — computer-generated test clouds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Controlled conditions: we know the true cylinder exactly</a:t>
            </a:r>
          </a:p>
        </p:txBody>
      </p:sp>
      <p:pic>
        <p:nvPicPr>
          <p:cNvPr id="4" name="Picture 3" descr="synth_data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940" y="1371600"/>
            <a:ext cx="8605359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33 clouds of one barrel: only a 120° strip is visible (like a real half-hidden drum).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Only the measurement noise changes: 11 levels × 3 random repeats.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94360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Question: how much sensor noise can each method tolerate before it fails?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Experiment 1 — results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Lower error is better; F1 = 1 means the barrel was always found, with no false alarms</a:t>
            </a:r>
          </a:p>
        </p:txBody>
      </p:sp>
      <p:pic>
        <p:nvPicPr>
          <p:cNvPr id="4" name="Picture 3" descr="synth_nois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88" y="1325880"/>
            <a:ext cx="11108263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7492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E7D32"/>
                </a:solidFill>
                <a:latin typeface="Calibri"/>
              </a:rPr>
              <a:t>• RANSAC and least-squares find the barrel at every noise level (F1 = 1.00 / 1.00).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B76E00"/>
                </a:solidFill>
                <a:latin typeface="Calibri"/>
              </a:rPr>
              <a:t>• Efficient RANSAC degrades first; the Hough baseline is erratic — it even misses some clean scenes.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555555"/>
                </a:solidFill>
                <a:latin typeface="Calibri"/>
              </a:rPr>
              <a:t>• Least-squares is the most precise but ~5–10× slower than the others (~17 s per scene).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Experiment 2 — a real barrel, no occlusion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Small lab barrel (radius 4.25 cm) seen by a depth camera</a:t>
            </a:r>
          </a:p>
        </p:txBody>
      </p:sp>
      <p:pic>
        <p:nvPicPr>
          <p:cNvPr id="4" name="Picture 3" descr="real_3d_d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562" y="1371600"/>
            <a:ext cx="1765116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5806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camera points (coloured) with the fitted cylinder (red)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0" y="1600200"/>
          <a:ext cx="7635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48840"/>
                <a:gridCol w="1554480"/>
                <a:gridCol w="155448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Barrel found?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Radius error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Direction error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RANSAC fit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0.38 cm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1.9°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Least-squares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0.47 cm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1.6°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Efficient RANSAC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0.94 cm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0.1°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3DTK Hough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 + 1 false alarm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0.09 cm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1.5°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97680" y="4480560"/>
            <a:ext cx="7498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All four methods find the barrel.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B76E00"/>
                </a:solidFill>
                <a:latin typeface="Calibri"/>
              </a:rPr>
              <a:t>• Errors are ~6–8× larger than on synthetic data — real sensor noise is not the clean noise we simulate.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Experiment 3 — a real occluded drum from the pile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One tilted, half-buried 200 L drum cut out of the survey scan</a:t>
            </a:r>
          </a:p>
        </p:txBody>
      </p:sp>
      <p:pic>
        <p:nvPicPr>
          <p:cNvPr id="4" name="Picture 3" descr="real_fits_on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43" y="1371600"/>
            <a:ext cx="646611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550468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true drum (green) vs fitted cylinders on the real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5087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B02A2A"/>
                </a:solidFill>
                <a:latin typeface="Calibri"/>
              </a:rPr>
              <a:t>• All four methods fail the accuracy gate here.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D3D"/>
                </a:solidFill>
                <a:latin typeface="Calibri"/>
              </a:rPr>
              <a:t>• Best attempt (least-squares): direction good (17°), centre off by 11.1 cm — misses the 10 cm gate by 1.1 cm.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D3D"/>
                </a:solidFill>
                <a:latin typeface="Calibri"/>
              </a:rPr>
              <a:t>• The others: direction far off, or no detection at 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925312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B76E00"/>
                </a:solidFill>
                <a:latin typeface="Calibri"/>
              </a:rPr>
              <a:t>Occlusion is exactly where the classical methods break — motivating a learned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New: BarrelNet — our first learning-based method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A neural network that gets the points of ONE drum and outputs its pose (centre + direction)</a:t>
            </a:r>
          </a:p>
        </p:txBody>
      </p:sp>
      <p:pic>
        <p:nvPicPr>
          <p:cNvPr id="4" name="Picture 3" descr="synth_patch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9738"/>
            <a:ext cx="11475720" cy="3098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09160"/>
            <a:ext cx="11475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four examples of the computer-generated training data: simulated LiDAR points (red) on a drum surface (blue)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Trained on 12,000 randomly generated partial drums — buried, tilted, noisy, incomplete.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94360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2E7D32"/>
                </a:solidFill>
                <a:latin typeface="Calibri"/>
              </a:rPr>
              <a:t>No real data in training: the 21 hand-verified real drums are kept aside as an honest test.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BarrelNet — how the score develops during training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Same network trained twice: laptop CPU (stopped early) vs GPU server (full schedule)</a:t>
            </a:r>
          </a:p>
        </p:txBody>
      </p:sp>
      <p:pic>
        <p:nvPicPr>
          <p:cNvPr id="4" name="Picture 3" descr="barrelnet_epoc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52055"/>
            <a:ext cx="11658600" cy="36338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Finishing the full training schedule nearly doubled the score: 7 → 12 of 21 real drums.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D3D"/>
                </a:solidFill>
                <a:latin typeface="Calibri"/>
              </a:rPr>
              <a:t>• The direction is learned early; the centre position improves late — it crosses the 10 cm gate only near the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BarrelNet on the real drum pile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Trained purely on synthetic drums, tested on the 21 real ones</a:t>
            </a:r>
          </a:p>
        </p:txBody>
      </p:sp>
      <p:pic>
        <p:nvPicPr>
          <p:cNvPr id="4" name="Picture 3" descr="station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59" y="1325880"/>
            <a:ext cx="6096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943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annotated drums coloured; predicted cylinders: green = within gate, red =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5087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12 of 21 real drums located within the accuracy gate.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Direction right on 16 of 21 drums.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The geometric methods scored 0 on this kind of drum.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• Open point: BarrelNet estimates the pose of a drum it is given — finding the drums in the pile still needs a separate first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What limits the evaluation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247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Our synthetic scenes still cannot imitate a truly buried, cluttered pile.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Real sensor noise is structured, not the clean random noise we simulate.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Only 21 real drums are labelled (~30% of the pile) — too few for strong statistics.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Some labels are imperfect: two drums lying end-to-end were annotated as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The evaluation machinery works — what is missing is more and better ground-truth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Next step: simulation closes the data gap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NVIDIA Isaac Sim gives unlimited scenes with perfect ground truth</a:t>
            </a:r>
          </a:p>
        </p:txBody>
      </p:sp>
      <p:pic>
        <p:nvPicPr>
          <p:cNvPr id="4" name="Picture 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515" y="1463040"/>
            <a:ext cx="7336489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77639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D3D"/>
                </a:solidFill>
                <a:latin typeface="Calibri"/>
              </a:rPr>
              <a:t>• Every simulated drum comes with its exact pose and its exact degree of burial — labels for free.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D3D"/>
                </a:solidFill>
                <a:latin typeface="Calibri"/>
              </a:rPr>
              <a:t>• That enables the headline experiment: detection quality as a function of how much of the drum is hidden.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D3D"/>
                </a:solidFill>
                <a:latin typeface="Calibri"/>
              </a:rPr>
              <a:t>• And it unlocks the remaining families: more learned methods and camera + LiDAR fusion.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Open risks — and how we deal with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71600"/>
          <a:ext cx="113842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6172200"/>
              </a:tblGrid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How we deal with it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Detection accuracy collapses under occlusion (seen across the field, e.g. −47% for LiDAR-only in a 2025 study)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Measure it systematically per method (occlusion sweep) instead of assuming — that comparison IS the thesis.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One sensor alone may never be reliable enough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Camera + LiDAR fusion is planned; literature shows fusion degrades far more gracefully.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Models trained in simulation may not transfer to reality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BarrelNet already measures this transfer on 21 real drums (12/21); next: fine-tune on a handful of real drums.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The manipulation half of the title is not started yet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Detection outputs exactly the pose a grasp planner needs; manipulation follows the method comparison.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97880"/>
            <a:ext cx="11384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occlusion numbers: [Shi'19] arXiv:1812.04244 · [Kumar'25] arXiv:2511.04347 · [Wang'25] Sensors 25(9):2794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1F2D3D"/>
                </a:solidFill>
                <a:latin typeface="Calibri"/>
              </a:rPr>
              <a:t>• One fair evaluation pipeline — every method, same data, same score.</a:t>
            </a:r>
          </a:p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2D3D"/>
                </a:solidFill>
                <a:latin typeface="Calibri"/>
              </a:rPr>
              <a:t>• Four geometry-based methods work well on visible barrels — and all fail on a truly occluded one.</a:t>
            </a:r>
          </a:p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2E7D32"/>
                </a:solidFill>
                <a:latin typeface="Calibri"/>
              </a:rPr>
              <a:t>• BarrelNet, trained only on synthetic drums, already finds 12 of 21 real occluded drums.</a:t>
            </a:r>
          </a:p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2D3D"/>
                </a:solidFill>
                <a:latin typeface="Calibri"/>
              </a:rPr>
              <a:t>• Next: simulation-generated data for the occlusion sweep, fine-tuning, and sensor fusion.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2E7D32"/>
                </a:solidFill>
                <a:latin typeface="Calibri"/>
              </a:rPr>
              <a:t>Learned + simulated is the promising path for occluded drums — and we can now measure exactly how promising.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