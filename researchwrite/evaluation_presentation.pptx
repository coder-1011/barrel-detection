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B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6070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Detection and Robotic Manipulation of Partially Occluded Object(s)</a:t>
            </a:r>
          </a:p>
          <a:p>
            <a:pPr algn="l">
              <a:spcAft>
                <a:spcPts val="1800"/>
              </a:spcAft>
            </a:pPr>
            <a:r>
              <a:rPr sz="2000" b="0" i="0">
                <a:solidFill>
                  <a:srgbClr val="9FC5DD"/>
                </a:solidFill>
                <a:latin typeface="Calibri"/>
              </a:rPr>
              <a:t>Detecting partially occluded cylindrical objects for robotic manipulation: a multi-method comparison in 3D point clouds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937760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C9D6E0"/>
                </a:solidFill>
                <a:latin typeface="Calibri"/>
              </a:rPr>
              <a:t>Master's thesis  ·  evaluation review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C9D6E0"/>
                </a:solidFill>
                <a:latin typeface="Calibri"/>
              </a:rPr>
              <a:t>[FILL: presenter]   ·   supervisor: [FILL: supervisor]   ·   [FILL: date]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Problem statement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D6E6F0"/>
                </a:solidFill>
                <a:latin typeface="Calibri"/>
              </a:rPr>
              <a:t>Recover each barrel's pose (centre, axis, radius) from a single, partial 3D view — for robotic manipulation</a:t>
            </a:r>
          </a:p>
        </p:txBody>
      </p:sp>
      <p:pic>
        <p:nvPicPr>
          <p:cNvPr id="4" name="Picture 3" descr="station1_pile_r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00337"/>
            <a:ext cx="7680960" cy="32059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5989320"/>
            <a:ext cx="7680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Real survey LiDAR: tumbled, partially-buried 200 L drums (r = 0.286 m), one viewpoint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463040"/>
            <a:ext cx="37490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F2D3D"/>
                </a:solidFill>
                <a:latin typeface="Calibri"/>
              </a:rPr>
              <a:t>• Drums are buried, mutually occluding, in arbitrary orientations.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D3D"/>
                </a:solidFill>
                <a:latin typeface="Calibri"/>
              </a:rPr>
              <a:t>• One viewpoint ⇒ each barrel shows only a thin arc (~120–200°).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B76E00"/>
                </a:solidFill>
                <a:latin typeface="Calibri"/>
              </a:rPr>
              <a:t>• Thin arc ⇒ radius &amp; axis ambiguous; naive fitting fails.</a:t>
            </a:r>
          </a:p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5C8A"/>
                </a:solidFill>
                <a:latin typeface="Calibri"/>
              </a:rPr>
              <a:t>• Which detection method works best — and why — under occlusion?</a:t>
            </a:r>
          </a:p>
          <a:p>
            <a:pPr algn="l">
              <a:spcAft>
                <a:spcPts val="600"/>
              </a:spcAft>
            </a:pPr>
            <a:r>
              <a:rPr sz="1400" b="0" i="1">
                <a:solidFill>
                  <a:srgbClr val="555555"/>
                </a:solidFill>
                <a:latin typeface="Calibri"/>
              </a:rPr>
              <a:t>• Empirical comparison, not a fixed hypothesis.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55555"/>
                </a:solidFill>
                <a:latin typeface="Calibri"/>
              </a:rPr>
              <a:t>Detection and Robotic Manipulation of Partially Occluded Object(s)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Existing solutions — three method families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D6E6F0"/>
                </a:solidFill>
                <a:latin typeface="Calibri"/>
              </a:rPr>
              <a:t>Advantages / disadvantages specifically under occlusion (from the 18-method literature survey)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71600"/>
          <a:ext cx="114757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4480560"/>
                <a:gridCol w="4663440"/>
              </a:tblGrid>
              <a:tr h="8001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Family</a:t>
                      </a:r>
                    </a:p>
                  </a:txBody>
                  <a:tcPr anchor="ctr" marT="25400" marB="25400">
                    <a:solidFill>
                      <a:srgbClr val="0B5C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Advantage under occlusion</a:t>
                      </a:r>
                    </a:p>
                  </a:txBody>
                  <a:tcPr anchor="ctr" marT="25400" marB="25400">
                    <a:solidFill>
                      <a:srgbClr val="0B5C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Disadvantage under occlusion</a:t>
                      </a:r>
                    </a:p>
                  </a:txBody>
                  <a:tcPr anchor="ctr" marT="25400" marB="25400">
                    <a:solidFill>
                      <a:srgbClr val="0B5C8A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D3D"/>
                          </a:solidFill>
                          <a:latin typeface="Calibri"/>
                        </a:rPr>
                        <a:t>LiDAR geometric</a:t>
                      </a:r>
                      <a:br/>
                      <a:r>
                        <a:t>(Hough, RANSAC, LS)</a:t>
                      </a:r>
                    </a:p>
                  </a:txBody>
                  <a:tcPr anchor="ctr" marT="25400" marB="25400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D3D"/>
                          </a:solidFill>
                          <a:latin typeface="Calibri"/>
                        </a:rPr>
                        <a:t>No training data; a partial arc still votes / fits; cheap reference point.</a:t>
                      </a:r>
                    </a:p>
                  </a:txBody>
                  <a:tcPr anchor="ctr" marT="25400" marB="25400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D3D"/>
                          </a:solidFill>
                          <a:latin typeface="Calibri"/>
                        </a:rPr>
                        <a:t>Hough needs accumulator mass; RANSAC tolerates partial arcs but needs a good proposer; clutter merges adjacent drums.</a:t>
                      </a:r>
                    </a:p>
                  </a:txBody>
                  <a:tcPr anchor="ctr" marT="25400" marB="25400">
                    <a:solidFill>
                      <a:srgbClr val="F2F5F8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D3D"/>
                          </a:solidFill>
                          <a:latin typeface="Calibri"/>
                        </a:rPr>
                        <a:t>LiDAR learned</a:t>
                      </a:r>
                      <a:br/>
                      <a:r>
                        <a:t>(PointNet++, BtcDet)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D3D"/>
                          </a:solidFill>
                          <a:latin typeface="Calibri"/>
                        </a:rPr>
                        <a:t>Learns partial-shape cues; can complete/flag occluded barrels — BarrelNet beats LS fitting.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D3D"/>
                          </a:solidFill>
                          <a:latin typeface="Calibri"/>
                        </a:rPr>
                        <a:t>Needs labelled occluded examples we don't have yet; sim-to-real gap; annotation/training cost.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D3D"/>
                          </a:solidFill>
                          <a:latin typeface="Calibri"/>
                        </a:rPr>
                        <a:t>Camera + LiDAR fusion</a:t>
                      </a:r>
                      <a:br/>
                      <a:r>
                        <a:t>(frustum, painting)</a:t>
                      </a:r>
                    </a:p>
                  </a:txBody>
                  <a:tcPr anchor="ctr" marT="25400" marB="25400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D3D"/>
                          </a:solidFill>
                          <a:latin typeface="Calibri"/>
                        </a:rPr>
                        <a:t>One modality compensates when the other is occluded; best recall on the safety-critical classes.</a:t>
                      </a:r>
                    </a:p>
                  </a:txBody>
                  <a:tcPr anchor="ctr" marT="25400" marB="25400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D3D"/>
                          </a:solidFill>
                          <a:latin typeface="Calibri"/>
                        </a:rPr>
                        <a:t>Fails together when calibration drifts; still mostly LiDAR-reliant when the LiDAR leg is occluded.</a:t>
                      </a:r>
                    </a:p>
                  </a:txBody>
                  <a:tcPr anchor="ctr" marT="25400" marB="25400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754880"/>
            <a:ext cx="11338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5C8A"/>
                </a:solidFill>
                <a:latin typeface="Calibri"/>
              </a:rPr>
              <a:t>• Why these for the thesis: breadth-first; no-training-data methods first; reuse existing code, don't reimplement.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55555"/>
                </a:solidFill>
                <a:latin typeface="Calibri"/>
              </a:rPr>
              <a:t>• Proposer/fit separation lets us swap one stage and compare fairly; BarrelNet is the nearest learned prior (no public code → deferred).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55555"/>
                </a:solidFill>
                <a:latin typeface="Calibri"/>
              </a:rPr>
              <a:t>Detection and Robotic Manipulation of Partially Occluded Object(s)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Methods chosen to evaluate — four geometric detectors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D6E6F0"/>
                </a:solidFill>
                <a:latin typeface="Calibri"/>
              </a:rPr>
              <a:t>All LiDAR-only, no training data; identical input &amp; output schema</a:t>
            </a:r>
          </a:p>
        </p:txBody>
      </p:sp>
      <p:pic>
        <p:nvPicPr>
          <p:cNvPr id="4" name="Picture 3" descr="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614010"/>
            <a:ext cx="6035040" cy="22700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29400" y="1463040"/>
            <a:ext cx="52120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F2D3D"/>
                </a:solidFill>
                <a:latin typeface="Calibri"/>
              </a:rPr>
              <a:t>• 3dtk_hough — baseline; randomized 2-step Hough.</a:t>
            </a:r>
          </a:p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F2D3D"/>
                </a:solidFill>
                <a:latin typeface="Calibri"/>
              </a:rPr>
              <a:t>• ransac_cylinder — shared proposer + normals2step fit.</a:t>
            </a:r>
          </a:p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F2D3D"/>
                </a:solidFill>
                <a:latin typeface="Calibri"/>
              </a:rPr>
              <a:t>• ls_cylinder — shared proposer + nonlinear least-squares fit.</a:t>
            </a:r>
          </a:p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F2D3D"/>
                </a:solidFill>
                <a:latin typeface="Calibri"/>
              </a:rPr>
              <a:t>• efficient_ransac — Schnabel RANSAC (CGAL), no proposer.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55555"/>
                </a:solidFill>
                <a:latin typeface="Calibri"/>
              </a:rPr>
              <a:t>• RANSAC &amp; LS share one proposer → a clean fit-quality comparison.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55555"/>
                </a:solidFill>
                <a:latin typeface="Calibri"/>
              </a:rPr>
              <a:t>• Efficient RANSAC finds cylinders directly → removes the shared-proposer confound.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55555"/>
                </a:solidFill>
                <a:latin typeface="Calibri"/>
              </a:rPr>
              <a:t>Detection and Robotic Manipulation of Partially Occluded Object(s)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Evaluation method — one harness, one metric for every method</a:t>
            </a:r>
          </a:p>
        </p:txBody>
      </p:sp>
      <p:pic>
        <p:nvPicPr>
          <p:cNvPr id="4" name="Picture 3" descr="pipeline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644" y="1234440"/>
            <a:ext cx="11592232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11480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D3D"/>
                </a:solidFill>
                <a:latin typeface="Calibri"/>
              </a:rPr>
              <a:t>• Shared schema: gt.json vs predictions.json, both in metres (data/GT_TEMPLATE.json).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D3D"/>
                </a:solidFill>
                <a:latin typeface="Calibri"/>
              </a:rPr>
              <a:t>• Method contract: run_detection.sh &lt;scene&gt; → results/&lt;scene&gt;/predictions.json.</a:t>
            </a:r>
          </a:p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5C8A"/>
                </a:solidFill>
                <a:latin typeface="Calibri"/>
              </a:rPr>
              <a:t>• eval/evaluate.py matches detections to ground truth and reports precision / recall / F1, radius RMSE, axis-angle error, runtime.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55555"/>
                </a:solidFill>
                <a:latin typeface="Calibri"/>
              </a:rPr>
              <a:t>Detection and Robotic Manipulation of Partially Occluded Object(s)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Evaluating the methods — synthetic noise sweep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D6E6F0"/>
                </a:solidFill>
                <a:latin typeface="Calibri"/>
              </a:rPr>
              <a:t>33 clouds, fixed ~120° arc, Gaussian noise 0.0–0.6 cm × 3 seeds — noise isolated as the single variable</a:t>
            </a:r>
          </a:p>
        </p:txBody>
      </p:sp>
      <p:pic>
        <p:nvPicPr>
          <p:cNvPr id="4" name="Picture 3" descr="synth_noise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691765"/>
            <a:ext cx="6766560" cy="21145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5989320"/>
            <a:ext cx="6766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accuracy / error vs Gaussian noise, one line per method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78040" y="1554480"/>
          <a:ext cx="47091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188720"/>
                <a:gridCol w="1143000"/>
                <a:gridCol w="777240"/>
              </a:tblGrid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anchor="ctr" marT="25400" marB="25400">
                    <a:solidFill>
                      <a:srgbClr val="0B5C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 / R / F1</a:t>
                      </a:r>
                    </a:p>
                  </a:txBody>
                  <a:tcPr anchor="ctr" marT="25400" marB="25400">
                    <a:solidFill>
                      <a:srgbClr val="0B5C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radius RMSE</a:t>
                      </a:r>
                    </a:p>
                  </a:txBody>
                  <a:tcPr anchor="ctr" marT="25400" marB="25400">
                    <a:solidFill>
                      <a:srgbClr val="0B5C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axis err</a:t>
                      </a:r>
                    </a:p>
                  </a:txBody>
                  <a:tcPr anchor="ctr" marT="25400" marB="25400">
                    <a:solidFill>
                      <a:srgbClr val="0B5C8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D3D"/>
                          </a:solidFill>
                          <a:latin typeface="Calibri"/>
                        </a:rPr>
                        <a:t>Nonlinear LS</a:t>
                      </a:r>
                    </a:p>
                  </a:txBody>
                  <a:tcPr anchor="ctr" marT="25400" marB="25400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D3D"/>
                          </a:solidFill>
                          <a:latin typeface="Calibri"/>
                        </a:rPr>
                        <a:t>1.00/1.00/1.00</a:t>
                      </a:r>
                    </a:p>
                  </a:txBody>
                  <a:tcPr anchor="ctr" marT="25400" marB="25400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D3D"/>
                          </a:solidFill>
                          <a:latin typeface="Calibri"/>
                        </a:rPr>
                        <a:t>0.00–1.09 cm</a:t>
                      </a:r>
                    </a:p>
                  </a:txBody>
                  <a:tcPr anchor="ctr" marT="25400" marB="25400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D3D"/>
                          </a:solidFill>
                          <a:latin typeface="Calibri"/>
                        </a:rPr>
                        <a:t>0.0–0.1°</a:t>
                      </a:r>
                    </a:p>
                  </a:txBody>
                  <a:tcPr anchor="ctr" marT="25400" marB="25400">
                    <a:solidFill>
                      <a:srgbClr val="F2F5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D3D"/>
                          </a:solidFill>
                          <a:latin typeface="Calibri"/>
                        </a:rPr>
                        <a:t>RANSAC fit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D3D"/>
                          </a:solidFill>
                          <a:latin typeface="Calibri"/>
                        </a:rPr>
                        <a:t>1.00/1.00/1.00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D3D"/>
                          </a:solidFill>
                          <a:latin typeface="Calibri"/>
                        </a:rPr>
                        <a:t>0.00–0.62 cm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D3D"/>
                          </a:solidFill>
                          <a:latin typeface="Calibri"/>
                        </a:rPr>
                        <a:t>0.0–3.3°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D3D"/>
                          </a:solidFill>
                          <a:latin typeface="Calibri"/>
                        </a:rPr>
                        <a:t>Efficient RANSAC</a:t>
                      </a:r>
                    </a:p>
                  </a:txBody>
                  <a:tcPr anchor="ctr" marT="25400" marB="25400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D3D"/>
                          </a:solidFill>
                          <a:latin typeface="Calibri"/>
                        </a:rPr>
                        <a:t>0.89/0.76/0.82</a:t>
                      </a:r>
                    </a:p>
                  </a:txBody>
                  <a:tcPr anchor="ctr" marT="25400" marB="25400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D3D"/>
                          </a:solidFill>
                          <a:latin typeface="Calibri"/>
                        </a:rPr>
                        <a:t>0.00–3.74 cm</a:t>
                      </a:r>
                    </a:p>
                  </a:txBody>
                  <a:tcPr anchor="ctr" marT="25400" marB="25400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D3D"/>
                          </a:solidFill>
                          <a:latin typeface="Calibri"/>
                        </a:rPr>
                        <a:t>0.0–7.6°</a:t>
                      </a:r>
                    </a:p>
                  </a:txBody>
                  <a:tcPr anchor="ctr" marT="25400" marB="25400">
                    <a:solidFill>
                      <a:srgbClr val="F2F5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D3D"/>
                          </a:solidFill>
                          <a:latin typeface="Calibri"/>
                        </a:rPr>
                        <a:t>3DTK Hough (baseline)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D3D"/>
                          </a:solidFill>
                          <a:latin typeface="Calibri"/>
                        </a:rPr>
                        <a:t>1.00/0.39/0.57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D3D"/>
                          </a:solidFill>
                          <a:latin typeface="Calibri"/>
                        </a:rPr>
                        <a:t>0.06–1.41 cm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D3D"/>
                          </a:solidFill>
                          <a:latin typeface="Calibri"/>
                        </a:rPr>
                        <a:t>0.1–0.1°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178040" y="3886200"/>
            <a:ext cx="47091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E7D32"/>
                </a:solidFill>
                <a:latin typeface="Calibri"/>
              </a:rPr>
              <a:t>• RANSAC + LS detect at every noise level (F1 = 1.0 across the whole sweep).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B76E00"/>
                </a:solidFill>
                <a:latin typeface="Calibri"/>
              </a:rPr>
              <a:t>• Efficient RANSAC degrades fastest — axis err ~4° by σ=0.2 and it drops detections mid-range.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B76E00"/>
                </a:solidFill>
                <a:latin typeface="Calibri"/>
              </a:rPr>
              <a:t>• 3DTK Hough is erratic: misses the clean scenes, only locks on at high noise.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55555"/>
                </a:solidFill>
                <a:latin typeface="Calibri"/>
              </a:rPr>
              <a:t>• LS best axis (≤0.1°) but slowest (~17 s/scene, ~5–10× the others).</a:t>
            </a:r>
          </a:p>
          <a:p>
            <a:pPr algn="l">
              <a:spcAft>
                <a:spcPts val="600"/>
              </a:spcAft>
            </a:pPr>
            <a:r>
              <a:rPr sz="1000" b="0" i="1">
                <a:solidFill>
                  <a:srgbClr val="555555"/>
                </a:solidFill>
                <a:latin typeface="Calibri"/>
              </a:rPr>
              <a:t>• Table aggregates all sweep_* scenes, read live from eval/*.csv.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55555"/>
                </a:solidFill>
                <a:latin typeface="Calibri"/>
              </a:rPr>
              <a:t>Detection and Robotic Manipulation of Partially Occluded Object(s)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Methods on real data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D6E6F0"/>
                </a:solidFill>
                <a:latin typeface="Calibri"/>
              </a:rPr>
              <a:t>Lab Xtion barrel (clean) and the occluded survey drum (hard)</a:t>
            </a:r>
          </a:p>
        </p:txBody>
      </p:sp>
      <p:pic>
        <p:nvPicPr>
          <p:cNvPr id="4" name="Picture 3" descr="real_fits_ransac_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25035"/>
            <a:ext cx="5852160" cy="1927770"/>
          </a:xfrm>
          <a:prstGeom prst="rect">
            <a:avLst/>
          </a:prstGeom>
        </p:spPr>
      </p:pic>
      <p:pic>
        <p:nvPicPr>
          <p:cNvPr id="5" name="Picture 4" descr="real_fits_on_cl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9217" y="1325880"/>
            <a:ext cx="4598125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434340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occluded survey drum (station1_pit_barrels_seg00): per-method cross-sections (left) and cylinders on the real cloud (right)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4709160"/>
          <a:ext cx="57607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280160"/>
                <a:gridCol w="1005840"/>
                <a:gridCol w="7315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data2_crop  (clean Xtion)</a:t>
                      </a:r>
                    </a:p>
                  </a:txBody>
                  <a:tcPr anchor="ctr" marT="25400" marB="25400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P/R/F1</a:t>
                      </a:r>
                    </a:p>
                  </a:txBody>
                  <a:tcPr anchor="ctr" marT="25400" marB="25400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radius</a:t>
                      </a:r>
                    </a:p>
                  </a:txBody>
                  <a:tcPr anchor="ctr" marT="25400" marB="25400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axis</a:t>
                      </a:r>
                    </a:p>
                  </a:txBody>
                  <a:tcPr anchor="ctr" marT="25400" marB="25400">
                    <a:solidFill>
                      <a:srgbClr val="2E7D3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ransac / ls / efficient_ransac</a:t>
                      </a:r>
                    </a:p>
                  </a:txBody>
                  <a:tcPr anchor="ctr" marT="25400" marB="25400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1.0/1.0/1.0</a:t>
                      </a:r>
                    </a:p>
                  </a:txBody>
                  <a:tcPr anchor="ctr" marT="25400" marB="25400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0.4–0.9 cm</a:t>
                      </a:r>
                    </a:p>
                  </a:txBody>
                  <a:tcPr anchor="ctr" marT="25400" marB="25400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0.1–1.9°</a:t>
                      </a:r>
                    </a:p>
                  </a:txBody>
                  <a:tcPr anchor="ctr" marT="25400" marB="25400">
                    <a:solidFill>
                      <a:srgbClr val="F2F5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3dtk_hough (phantom 2nd cyl)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0.50/1.0/0.67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0.09 cm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1.53°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63640" y="4709160"/>
          <a:ext cx="53949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097280"/>
                <a:gridCol w="1005840"/>
                <a:gridCol w="54864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station1_seg00  (occluded)</a:t>
                      </a:r>
                    </a:p>
                  </a:txBody>
                  <a:tcPr anchor="ctr" marT="25400" marB="25400">
                    <a:solidFill>
                      <a:srgbClr val="B76E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axis err</a:t>
                      </a:r>
                    </a:p>
                  </a:txBody>
                  <a:tcPr anchor="ctr" marT="25400" marB="25400">
                    <a:solidFill>
                      <a:srgbClr val="B76E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ctr→axis</a:t>
                      </a:r>
                    </a:p>
                  </a:txBody>
                  <a:tcPr anchor="ctr" marT="25400" marB="25400">
                    <a:solidFill>
                      <a:srgbClr val="B76E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anchor="ctr" marT="25400" marB="25400">
                    <a:solidFill>
                      <a:srgbClr val="B76E0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ls_cylinder (near-miss 1.1 cm)</a:t>
                      </a:r>
                    </a:p>
                  </a:txBody>
                  <a:tcPr anchor="ctr" marT="25400" marB="25400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17.1°</a:t>
                      </a:r>
                    </a:p>
                  </a:txBody>
                  <a:tcPr anchor="ctr" marT="25400" marB="25400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11.1 cm</a:t>
                      </a:r>
                    </a:p>
                  </a:txBody>
                  <a:tcPr anchor="ctr" marT="25400" marB="25400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T="25400" marB="25400">
                    <a:solidFill>
                      <a:srgbClr val="F2F5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ransac / eff_ransac / hough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69°/—/—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54 cm/—/—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6576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55555"/>
                </a:solidFill>
                <a:latin typeface="Calibri"/>
              </a:rPr>
              <a:t>Detection and Robotic Manipulation of Partially Occluded Object(s)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Problems with the pipeline — data &amp; methodology limits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8016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F2D3D"/>
                </a:solidFill>
                <a:latin typeface="Calibri"/>
              </a:rPr>
              <a:t>• Synthetic generator can't make genuinely occluded scenes — only a single idealized arc + Gaussian noise (no mutual occlusion, burial, clutter, multipath).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D3D"/>
                </a:solidFill>
                <a:latin typeface="Calibri"/>
              </a:rPr>
              <a:t>• Synthetic noise is i.i.d. Gaussian; real Xtion / survey-LiDAR noise is structured (range-dependent, occlusion-shadow gaps) — real radius error ran ~6–8× synthetic, and all 4 scored F1=0 on the first real occluded drum.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D3D"/>
                </a:solidFill>
                <a:latin typeface="Calibri"/>
              </a:rPr>
              <a:t>• Not enough data to train/validate learned methods — no labelled occluded real scenes; the synthetic set is essentially one occlusion level.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B76E00"/>
                </a:solidFill>
                <a:latin typeface="Calibri"/>
              </a:rPr>
              <a:t>• Can't yet accurately measure the geometric methods either — only one real occluded GT exists, and its coarse crop caught two coaxial drums as one blob, so the reference axis is itself suspect.</a:t>
            </a:r>
          </a:p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5C8A"/>
                </a:solidFill>
                <a:latin typeface="Calibri"/>
              </a:rPr>
              <a:t>• Net: the harness works, but it can't yet support "A beats B under occlusion" or "ready to train a detector" — both need the Isaac Sim data plan.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55555"/>
                </a:solidFill>
                <a:latin typeface="Calibri"/>
              </a:rPr>
              <a:t>Detection and Robotic Manipulation of Partially Occluded Object(s)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Future pipeline — Isaac Sim closes the data gap</a:t>
            </a:r>
          </a:p>
        </p:txBody>
      </p:sp>
      <p:pic>
        <p:nvPicPr>
          <p:cNvPr id="4" name="Picture 3" descr="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725472"/>
            <a:ext cx="6035040" cy="19556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29400" y="1463040"/>
            <a:ext cx="52120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F2D3D"/>
                </a:solidFill>
                <a:latin typeface="Calibri"/>
              </a:rPr>
              <a:t>• Isaac Sim dataset: full ground truth, true occlusion % per barrel.</a:t>
            </a:r>
          </a:p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5C8A"/>
                </a:solidFill>
                <a:latin typeface="Calibri"/>
              </a:rPr>
              <a:t>• Occlusion sweep: recall + pose error vs occlusion % — the headline result.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D3D"/>
                </a:solidFill>
                <a:latin typeface="Calibri"/>
              </a:rPr>
              <a:t>• Learned methods (PointNet++ / BarrelNet-style) once training data exists.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D3D"/>
                </a:solidFill>
                <a:latin typeface="Calibri"/>
              </a:rPr>
              <a:t>• Camera + LiDAR fusion (camera-first frustum + LiDAR-first painting).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D3D"/>
                </a:solidFill>
                <a:latin typeface="Calibri"/>
              </a:rPr>
              <a:t>• Calibration-noise injection — where does fusion's advantage degrade?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55555"/>
                </a:solidFill>
                <a:latin typeface="Calibri"/>
              </a:rPr>
              <a:t>Detection and Robotic Manipulation of Partially Occluded Object(s)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General problems &amp; open risks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8016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B5C8A"/>
                </a:solidFill>
                <a:latin typeface="Calibri"/>
              </a:rPr>
              <a:t>• Accuracy degrades sharply with occlusion — a known pattern, not unique to us.</a:t>
            </a:r>
          </a:p>
          <a:p>
            <a:pPr algn="l" lvl="1">
              <a:spcAft>
                <a:spcPts val="600"/>
              </a:spcAft>
            </a:pPr>
            <a:r>
              <a:rPr sz="1300" b="0" i="0">
                <a:solidFill>
                  <a:srgbClr val="1F2D3D"/>
                </a:solidFill>
                <a:latin typeface="Calibri"/>
              </a:rPr>
              <a:t>– KITTI Easy/Mod/Hard: PointRCNN car AP 88.9 → 78.6 → 77.4 (~11.5 pt) [Shi'19, arXiv:1812.04244]. Controlled occlusion: LiDAR-only mAP 64.7 → 34.1 (−47%) [Kumar'25, arXiv:2511.04347].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B5C8A"/>
                </a:solidFill>
                <a:latin typeface="Calibri"/>
              </a:rPr>
              <a:t>• LiDAR-only alone isn't robust enough for mission-critical use — motivates fusion.</a:t>
            </a:r>
          </a:p>
          <a:p>
            <a:pPr algn="l" lvl="1">
              <a:spcAft>
                <a:spcPts val="600"/>
              </a:spcAft>
            </a:pPr>
            <a:r>
              <a:rPr sz="1300" b="0" i="0">
                <a:solidFill>
                  <a:srgbClr val="1F2D3D"/>
                </a:solidFill>
                <a:latin typeface="Calibri"/>
              </a:rPr>
              <a:t>– Fusion beats LiDAR-only even on clean data (68.5 vs 64.7 mAP) and is far more robust to camera occlusion (−4 pt) than LiDAR-only is to LiDAR occlusion (−47 pt) — but still loses ~27 pt when the LiDAR leg itself is occluded [Kumar'25].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55555"/>
                </a:solidFill>
                <a:latin typeface="Calibri"/>
              </a:rPr>
              <a:t>• Project risks: sim-to-real gap (sim LiDAR is cleaner); the manipulation half of the title not yet started; annotation cost as a fairness concern for geometric-vs-learned; scope / timeline.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55555"/>
                </a:solidFill>
                <a:latin typeface="Calibri"/>
              </a:rPr>
              <a:t>Detection and Robotic Manipulation of Partially Occluded Object(s)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