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Detection and Robotic Manipulation of Partially Occluded Object(s)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9FC5DD"/>
                </a:solidFill>
                <a:latin typeface="Calibri"/>
              </a:rPr>
              <a:t>Detecting partially occluded cylindrical objects for robotic manipulation: a multi-method comparison in 3D point clouds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C9D6E0"/>
                </a:solidFill>
                <a:latin typeface="Calibri"/>
              </a:rPr>
              <a:t>Master's thesis  ·  evaluation review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C9D6E0"/>
                </a:solidFill>
                <a:latin typeface="Calibri"/>
              </a:rPr>
              <a:t>[FILL: presenter]   ·   supervisor: [FILL: supervisor]   ·   [FILL: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bin-picking problem</a:t>
            </a:r>
          </a:p>
        </p:txBody>
      </p:sp>
      <p:pic>
        <p:nvPicPr>
          <p:cNvPr id="4" name="Picture 3" descr="binpicking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12" y="1325880"/>
            <a:ext cx="989549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589788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B5C8A"/>
                </a:solidFill>
                <a:latin typeface="Calibri"/>
              </a:rPr>
              <a:t>Before the robot can grasp anything, it must know exactly where each object is and how it 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Our task: fit a cylinder to the visible points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“Fitting” = choosing model parameters so the model matches the measured points as well as possible</a:t>
            </a:r>
          </a:p>
        </p:txBody>
      </p:sp>
      <p:pic>
        <p:nvPicPr>
          <p:cNvPr id="4" name="Picture 3" descr="fitting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96169"/>
            <a:ext cx="11475720" cy="393998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589788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B5C8A"/>
                </a:solidFill>
                <a:latin typeface="Calibri"/>
              </a:rPr>
              <a:t>With a full view, fitting is easy — the difficulty starts when most of the object is hidden.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Our case is harder: the drums are covered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Real scan: 200-litre steel drums, tumbled and partially buried</a:t>
            </a:r>
          </a:p>
        </p:txBody>
      </p:sp>
      <p:pic>
        <p:nvPicPr>
          <p:cNvPr id="4" name="Picture 3" descr="station1_pile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59280"/>
            <a:ext cx="8229600" cy="3413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2520" y="155448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F2D3D"/>
                </a:solidFill>
                <a:latin typeface="Calibri"/>
              </a:rPr>
              <a:t>• Drums lie in arbitrary directions.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F2D3D"/>
                </a:solidFill>
                <a:latin typeface="Calibri"/>
              </a:rPr>
              <a:t>• Sand and other drums hide most of each drum.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F2D3D"/>
                </a:solidFill>
                <a:latin typeface="Calibri"/>
              </a:rPr>
              <a:t>• The sensor sees the pile from one side only.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89788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B7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B76E00"/>
                </a:solidFill>
                <a:latin typeface="Calibri"/>
              </a:rPr>
              <a:t>Each drum shows only a small patch — and a small patch fits many different cylinders.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Existing solutions — three families of methods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From an 18-method literature survey; judged by how they cope with hidden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758184" cy="54864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Geometry-based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758184" cy="3794760"/>
          </a:xfrm>
          <a:prstGeom prst="rect">
            <a:avLst/>
          </a:prstGeom>
          <a:solidFill>
            <a:srgbClr val="F2F5F8"/>
          </a:solidFill>
          <a:ln w="15875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F2D3D"/>
                </a:solidFill>
                <a:latin typeface="Calibri"/>
              </a:rPr>
              <a:t>Search the 3D points directly for cylinder shapes.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+ Works out of the box — no training data needed.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B02A2A"/>
                </a:solidFill>
                <a:latin typeface="Calibri"/>
              </a:rPr>
              <a:t>− Needs enough visible points; touching drums get merged.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1371600"/>
            <a:ext cx="3758184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Learning-based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920240"/>
            <a:ext cx="3758184" cy="3794760"/>
          </a:xfrm>
          <a:prstGeom prst="rect">
            <a:avLst/>
          </a:prstGeom>
          <a:solidFill>
            <a:srgbClr val="F2F5F8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F2D3D"/>
                </a:solidFill>
                <a:latin typeface="Calibri"/>
              </a:rPr>
              <a:t>A neural network learns what partial barrels look like from many examples.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+ Can recognise a barrel from a small fragment.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B02A2A"/>
                </a:solidFill>
                <a:latin typeface="Calibri"/>
              </a:rPr>
              <a:t>− Needs lots of labelled training examples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1371600"/>
            <a:ext cx="3758184" cy="54864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Camera + LiDAR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1920240"/>
            <a:ext cx="3758184" cy="3794760"/>
          </a:xfrm>
          <a:prstGeom prst="rect">
            <a:avLst/>
          </a:prstGeom>
          <a:solidFill>
            <a:srgbClr val="F2F5F8"/>
          </a:solidFill>
          <a:ln w="15875">
            <a:solidFill>
              <a:srgbClr val="B7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F2D3D"/>
                </a:solidFill>
                <a:latin typeface="Calibri"/>
              </a:rPr>
              <a:t>Combine colour images with the 3D points.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+ If one sensor is blocked, the other still sees the object.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B02A2A"/>
                </a:solidFill>
                <a:latin typeface="Calibri"/>
              </a:rPr>
              <a:t>− Both sensors must be aligned precisely — errors break the pairing.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89788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B5C8A"/>
                </a:solidFill>
                <a:latin typeface="Calibri"/>
              </a:rPr>
              <a:t>We compare all three families on the same data — geometry first, since it needs no training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data we test every method on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Three data sets — difficulty increases left to right</a:t>
            </a:r>
          </a:p>
        </p:txBody>
      </p:sp>
      <p:pic>
        <p:nvPicPr>
          <p:cNvPr id="4" name="Picture 3" descr="test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7659"/>
            <a:ext cx="11612880" cy="41170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589788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B5C8A"/>
                </a:solidFill>
                <a:latin typeface="Calibri"/>
              </a:rPr>
              <a:t>Synthetic clouds tell us the best case; the real pile tells us the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Four geometry-based methods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3DTK Hough (baseline) — every point votes for the cylinders it could lie on; the strongest vote wins.</a:t>
            </a:r>
          </a:p>
          <a:p>
            <a:pPr algn="l">
              <a:spcAft>
                <a:spcPts val="22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RANSAC fit — try many random small point samples, keep the cylinder most points agree with.</a:t>
            </a:r>
          </a:p>
          <a:p>
            <a:pPr algn="l">
              <a:spcAft>
                <a:spcPts val="22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Least-squares fit — start from a rough guess, then adjust the cylinder until it matches the points best.</a:t>
            </a:r>
          </a:p>
          <a:p>
            <a:pPr algn="l">
              <a:spcAft>
                <a:spcPts val="22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Efficient RANSAC — a faster RANSAC variant that searches the whole scene for shapes in one pass.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B5C8A"/>
                </a:solidFill>
                <a:latin typeface="Calibri"/>
              </a:rPr>
              <a:t>All four: LiDAR points only · no training data · identical input and output — directly comparable.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we evaluate — one pipeline for every method</a:t>
            </a:r>
          </a:p>
        </p:txBody>
      </p:sp>
      <p:pic>
        <p:nvPicPr>
          <p:cNvPr id="4" name="Picture 3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24279"/>
            <a:ext cx="11612880" cy="24837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585216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B5C8A"/>
                </a:solidFill>
                <a:latin typeface="Calibri"/>
              </a:rPr>
              <a:t>A prediction counts as correct if direction is within 30° and the centre within 10 cm of the true drum.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Experiment 1 — how much noise can each method take?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The synthetic barrel (120° visible) at 11 noise levels × 3 repeats = 33 test clouds</a:t>
            </a:r>
          </a:p>
        </p:txBody>
      </p:sp>
      <p:pic>
        <p:nvPicPr>
          <p:cNvPr id="4" name="Picture 3" descr="synth_nois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88" y="1325880"/>
            <a:ext cx="11108263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749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• RANSAC and least-squares find the barrel at every noise level (F1 = 1.00 / 1.00).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B76E00"/>
                </a:solidFill>
                <a:latin typeface="Calibri"/>
              </a:rPr>
              <a:t>• Efficient RANSAC degrades first; the Hough baseline is erratic — it even misses some clean scenes.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Least-squares is the most precise but ~5–10× slower than the others (~17 s per scene).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Experiment 2 — the real lab barrel, no occlusion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Depth-camera scan; true radius 4.25 cm</a:t>
            </a:r>
          </a:p>
        </p:txBody>
      </p:sp>
      <p:pic>
        <p:nvPicPr>
          <p:cNvPr id="4" name="Picture 3" descr="real_3d_d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562" y="1371600"/>
            <a:ext cx="1765116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5806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Camera points (coloured) with the fitted cylinder (red)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0" y="1600200"/>
          <a:ext cx="7635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48840"/>
                <a:gridCol w="1554480"/>
                <a:gridCol w="155448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T="38100" marB="38100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Barrel found?</a:t>
                      </a:r>
                    </a:p>
                  </a:txBody>
                  <a:tcPr anchor="ctr" marT="38100" marB="38100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Radius error</a:t>
                      </a:r>
                    </a:p>
                  </a:txBody>
                  <a:tcPr anchor="ctr" marT="38100" marB="38100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Direction error</a:t>
                      </a:r>
                    </a:p>
                  </a:txBody>
                  <a:tcPr anchor="ctr" marT="38100" marB="38100">
                    <a:solidFill>
                      <a:srgbClr val="0B5C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RANSAC fit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0.38 cm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1.9°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Least-squares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0.47 cm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1.6°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Efficient RANSAC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0.94 cm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0.1°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3DTK Hough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yes + 1 false alarm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0.09 cm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1.5°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97680" y="448056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2E7D32"/>
                </a:solidFill>
                <a:latin typeface="Calibri"/>
              </a:rPr>
              <a:t>• All four methods find the barrel.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B76E00"/>
                </a:solidFill>
                <a:latin typeface="Calibri"/>
              </a:rPr>
              <a:t>• Errors are ~6–8× larger than on synthetic data — real sensor noise is not the clean noise we simulate.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Experiment 3 — a real occluded drum from the pile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One tilted, half-buried 200 L drum cut out of the survey scan</a:t>
            </a:r>
          </a:p>
        </p:txBody>
      </p:sp>
      <p:pic>
        <p:nvPicPr>
          <p:cNvPr id="4" name="Picture 3" descr="real_fits_on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" y="1371600"/>
            <a:ext cx="646611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550468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True drum (green) vs fitted cylinders on the real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5087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B02A2A"/>
                </a:solidFill>
                <a:latin typeface="Calibri"/>
              </a:rPr>
              <a:t>• All four methods fail the accuracy gate here.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D3D"/>
                </a:solidFill>
                <a:latin typeface="Calibri"/>
              </a:rPr>
              <a:t>• Best attempt (least-squares): direction good (17°), centre off by 11.1 cm — misses the 10 cm gate by 1.1 cm.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D3D"/>
                </a:solidFill>
                <a:latin typeface="Calibri"/>
              </a:rPr>
              <a:t>• The others: direction far off, or no detection at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925312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B7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B76E00"/>
                </a:solidFill>
                <a:latin typeface="Calibri"/>
              </a:rPr>
              <a:t>Occlusion is exactly where the classical methods break — motivating a learned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New: BarrelNet — our first learning-based method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A neural network that gets the points of ONE drum and outputs its pose (centre + direction)</a:t>
            </a:r>
          </a:p>
        </p:txBody>
      </p:sp>
      <p:pic>
        <p:nvPicPr>
          <p:cNvPr id="4" name="Picture 3" descr="synth_patches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9738"/>
            <a:ext cx="11475720" cy="3098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709160"/>
            <a:ext cx="1147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Examples of the synthetic training patches: simulated LiDAR points (red) on the drum surface (blue)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F2D3D"/>
                </a:solidFill>
                <a:latin typeface="Calibri"/>
              </a:rPr>
              <a:t>• Trained on 12,000 such patches — buried, tilted, noisy, incomplete.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94360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No real data in training: the 21 hand-verified real drums are kept aside as an honest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BarrelNet — how the score develops during training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Same network trained twice: laptop CPU (stopped early) vs GPU server (full schedule)</a:t>
            </a:r>
          </a:p>
        </p:txBody>
      </p:sp>
      <p:pic>
        <p:nvPicPr>
          <p:cNvPr id="4" name="Picture 3" descr="barrelnet_epoc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2055"/>
            <a:ext cx="11658600" cy="36338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2E7D32"/>
                </a:solidFill>
                <a:latin typeface="Calibri"/>
              </a:rPr>
              <a:t>• Finishing the full training schedule nearly doubled the score: 7 → 12 of 21 real drums.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D3D"/>
                </a:solidFill>
                <a:latin typeface="Calibri"/>
              </a:rPr>
              <a:t>• The direction is learned early; the centre position improves late — it crosses the 10 cm gate only near the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BarrelNet on the real drum pile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Trained purely on synthetic drums, tested on the 21 real ones</a:t>
            </a:r>
          </a:p>
        </p:txBody>
      </p:sp>
      <p:pic>
        <p:nvPicPr>
          <p:cNvPr id="4" name="Picture 3" descr="station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59" y="1325880"/>
            <a:ext cx="6096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Annotated drums coloured; predicted cylinders: green = within gate, red =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2E7D32"/>
                </a:solidFill>
                <a:latin typeface="Calibri"/>
              </a:rPr>
              <a:t>• 12 of 21 real drums located within the accuracy gate.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F2D3D"/>
                </a:solidFill>
                <a:latin typeface="Calibri"/>
              </a:rPr>
              <a:t>• Direction right on 16 of 21 drums.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F2D3D"/>
                </a:solidFill>
                <a:latin typeface="Calibri"/>
              </a:rPr>
              <a:t>• The geometric methods scored 0 on this kind of drum.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• Open point: BarrelNet estimates the pose of a drum it is given — finding the drums in the pile still needs a separate first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limits the evaluation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247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Our synthetic scenes still cannot imitate a truly buried, cluttered pile.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Real sensor noise is harder than anything we simulate — Experiment 2 showed 6–8× larger errors.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Only 21 real drums are labelled (~30% of the pile) — too few for strong statistics.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1F2D3D"/>
                </a:solidFill>
                <a:latin typeface="Calibri"/>
              </a:rPr>
              <a:t>• Some labels are imperfect: two drums lying end-to-end were annotated as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89788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0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B5C8A"/>
                </a:solidFill>
                <a:latin typeface="Calibri"/>
              </a:rPr>
              <a:t>The evaluation machinery works — what is missing is more and better ground-truth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Open risks — and how we deal with them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11384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62940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T="38100" marB="38100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How we deal with it</a:t>
                      </a:r>
                    </a:p>
                  </a:txBody>
                  <a:tcPr anchor="ctr" marT="38100" marB="38100">
                    <a:solidFill>
                      <a:srgbClr val="0B5C8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Accuracy collapses under occlusion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Measure it per method — that comparison IS the thesis.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One sensor alone may not be enough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Add camera + LiDAR fusion — it degrades far more gracefully.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Sim-trained models may not transfer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Measured: 12 of 21 real drums; next, fine-tune on a few real ones.</a:t>
                      </a:r>
                    </a:p>
                  </a:txBody>
                  <a:tcPr anchor="ctr" marT="38100" marB="38100">
                    <a:solidFill>
                      <a:srgbClr val="F2F5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Manipulation not started yet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D3D"/>
                          </a:solidFill>
                          <a:latin typeface="Calibri"/>
                        </a:rPr>
                        <a:t>Detection delivers exactly the pose a grasp planner needs.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89788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Occlusion numbers: [Shi'19] arXiv:1812.04244 · [Kumar'25] arXiv:2511.04347 · [Wang'25] Sensors 25(9):2794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Next step: simulation closes the data gap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6E6F0"/>
                </a:solidFill>
                <a:latin typeface="Calibri"/>
              </a:rPr>
              <a:t>NVIDIA Isaac Sim gives unlimited scenes with perfect ground truth</a:t>
            </a:r>
          </a:p>
        </p:txBody>
      </p:sp>
      <p:pic>
        <p:nvPicPr>
          <p:cNvPr id="4" name="Picture 3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515" y="1463040"/>
            <a:ext cx="7336489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77639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F2D3D"/>
                </a:solidFill>
                <a:latin typeface="Calibri"/>
              </a:rPr>
              <a:t>• Every simulated drum comes with its exact pose and its exact degree of burial — labels for free.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F2D3D"/>
                </a:solidFill>
                <a:latin typeface="Calibri"/>
              </a:rPr>
              <a:t>• That enables the headline experiment: detection quality as a function of how much of the drum is hidden.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F2D3D"/>
                </a:solidFill>
                <a:latin typeface="Calibri"/>
              </a:rPr>
              <a:t>• And it unlocks the remaining families: more learned methods and camera + LiDAR fusion.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F2D3D"/>
                </a:solidFill>
                <a:latin typeface="Calibri"/>
              </a:rPr>
              <a:t>• One fair evaluation pipeline — every method, same data, same score.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F2D3D"/>
                </a:solidFill>
                <a:latin typeface="Calibri"/>
              </a:rPr>
              <a:t>• Four geometry-based methods work well on visible barrels — and all fail on a truly occluded one.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E7D32"/>
                </a:solidFill>
                <a:latin typeface="Calibri"/>
              </a:rPr>
              <a:t>• BarrelNet, trained only on synthetic drums, already finds 12 of 21 real occluded drums.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F2D3D"/>
                </a:solidFill>
                <a:latin typeface="Calibri"/>
              </a:rPr>
              <a:t>• Next: simulation-generated data for the occlusion sweep, fine-tuning, and sensor fusion.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897880"/>
            <a:ext cx="11475720" cy="502920"/>
          </a:xfrm>
          <a:prstGeom prst="rect">
            <a:avLst/>
          </a:prstGeom>
          <a:solidFill>
            <a:srgbClr val="E3EE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Learned + simulated is the promising path for occluded drums — and we can now measure exactly how promising.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Detection and Robotic Manipulation of Partially Occluded Object(s)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you!</a:t>
            </a:r>
          </a:p>
          <a:p>
            <a:pPr algn="ctr">
              <a:spcAft>
                <a:spcPts val="800"/>
              </a:spcAft>
            </a:pPr>
            <a:r>
              <a:rPr sz="2400" b="0" i="0">
                <a:solidFill>
                  <a:srgbClr val="9FC5DD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