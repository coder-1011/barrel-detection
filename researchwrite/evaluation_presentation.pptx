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B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6070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Detection and Robotic Manipulation of Partially Occluded Object(s)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9FC5DD"/>
                </a:solidFill>
                <a:latin typeface="Calibri"/>
              </a:rPr>
              <a:t>Detecting partially occluded cylindrical objects for robotic manipulation: a multi-method comparison in 3D point clouds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93776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C9D6E0"/>
                </a:solidFill>
                <a:latin typeface="Calibri"/>
              </a:rPr>
              <a:t>Master's thesis  ·  evaluation review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C9D6E0"/>
                </a:solidFill>
                <a:latin typeface="Calibri"/>
              </a:rPr>
              <a:t>[FILL: presenter]   ·   supervisor: [FILL: supervisor]   ·   [FILL: date]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The bin-picking problem</a:t>
            </a:r>
          </a:p>
        </p:txBody>
      </p:sp>
      <p:pic>
        <p:nvPicPr>
          <p:cNvPr id="4" name="Picture 3" descr="binpicking_in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012" y="1325880"/>
            <a:ext cx="9895496" cy="44805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5760" y="5897880"/>
            <a:ext cx="11475720" cy="502920"/>
          </a:xfrm>
          <a:prstGeom prst="rect">
            <a:avLst/>
          </a:prstGeom>
          <a:solidFill>
            <a:srgbClr val="E3EEF5"/>
          </a:solidFill>
          <a:ln w="19050">
            <a:solidFill>
              <a:srgbClr val="0B5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>
              <a:spcAft>
                <a:spcPts val="800"/>
              </a:spcAft>
            </a:pPr>
            <a:r>
              <a:rPr sz="2000" b="1" i="0">
                <a:solidFill>
                  <a:srgbClr val="0B5C8A"/>
                </a:solidFill>
                <a:latin typeface="Calibri"/>
              </a:rPr>
              <a:t>Before the robot can grasp anything, it must know exactly where each object is and how it lies.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Detection and Robotic Manipulation of Partially Occluded Object(s)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0" i="0">
                <a:solidFill>
                  <a:srgbClr val="555555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Our task: fit a cylinder to the visible points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D6E6F0"/>
                </a:solidFill>
                <a:latin typeface="Calibri"/>
              </a:rPr>
              <a:t>“Fitting” = choosing model parameters so the model matches the measured points as well as possible</a:t>
            </a:r>
          </a:p>
        </p:txBody>
      </p:sp>
      <p:pic>
        <p:nvPicPr>
          <p:cNvPr id="4" name="Picture 3" descr="fitting_expla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96169"/>
            <a:ext cx="11475720" cy="393998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5760" y="5897880"/>
            <a:ext cx="11475720" cy="502920"/>
          </a:xfrm>
          <a:prstGeom prst="rect">
            <a:avLst/>
          </a:prstGeom>
          <a:solidFill>
            <a:srgbClr val="E3EEF5"/>
          </a:solidFill>
          <a:ln w="19050">
            <a:solidFill>
              <a:srgbClr val="0B5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>
              <a:spcAft>
                <a:spcPts val="800"/>
              </a:spcAft>
            </a:pPr>
            <a:r>
              <a:rPr sz="2000" b="1" i="0">
                <a:solidFill>
                  <a:srgbClr val="0B5C8A"/>
                </a:solidFill>
                <a:latin typeface="Calibri"/>
              </a:rPr>
              <a:t>With a full view, fitting is easy — the difficulty starts when most of the object is hidden.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Detection and Robotic Manipulation of Partially Occluded Object(s)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0" i="0">
                <a:solidFill>
                  <a:srgbClr val="555555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Our case is harder: the drums are covered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D6E6F0"/>
                </a:solidFill>
                <a:latin typeface="Calibri"/>
              </a:rPr>
              <a:t>Real scan: 200-litre steel drums, tumbled and partially buried</a:t>
            </a:r>
          </a:p>
        </p:txBody>
      </p:sp>
      <p:pic>
        <p:nvPicPr>
          <p:cNvPr id="4" name="Picture 3" descr="station1_pile_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59280"/>
            <a:ext cx="8229600" cy="3413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732520" y="1554480"/>
            <a:ext cx="3246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>
                <a:solidFill>
                  <a:srgbClr val="1F2D3D"/>
                </a:solidFill>
                <a:latin typeface="Calibri"/>
              </a:rPr>
              <a:t>• Drums lie in arbitrary directions.</a:t>
            </a:r>
          </a:p>
          <a:p>
            <a:pPr algn="l">
              <a:spcAft>
                <a:spcPts val="1000"/>
              </a:spcAft>
            </a:pPr>
            <a:r>
              <a:rPr sz="1900" b="0" i="0">
                <a:solidFill>
                  <a:srgbClr val="1F2D3D"/>
                </a:solidFill>
                <a:latin typeface="Calibri"/>
              </a:rPr>
              <a:t>• Sand and other drums hide most of each drum.</a:t>
            </a:r>
          </a:p>
          <a:p>
            <a:pPr algn="l">
              <a:spcAft>
                <a:spcPts val="1000"/>
              </a:spcAft>
            </a:pPr>
            <a:r>
              <a:rPr sz="1900" b="0" i="0">
                <a:solidFill>
                  <a:srgbClr val="1F2D3D"/>
                </a:solidFill>
                <a:latin typeface="Calibri"/>
              </a:rPr>
              <a:t>• The sensor sees the pile from one side only.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5897880"/>
            <a:ext cx="11475720" cy="502920"/>
          </a:xfrm>
          <a:prstGeom prst="rect">
            <a:avLst/>
          </a:prstGeom>
          <a:solidFill>
            <a:srgbClr val="E3EEF5"/>
          </a:solidFill>
          <a:ln w="19050">
            <a:solidFill>
              <a:srgbClr val="B76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>
              <a:spcAft>
                <a:spcPts val="800"/>
              </a:spcAft>
            </a:pPr>
            <a:r>
              <a:rPr sz="2000" b="1" i="0">
                <a:solidFill>
                  <a:srgbClr val="B76E00"/>
                </a:solidFill>
                <a:latin typeface="Calibri"/>
              </a:rPr>
              <a:t>Each drum shows only a small patch — and a small patch fits many different cylinders.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Detection and Robotic Manipulation of Partially Occluded Object(s)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0" i="0">
                <a:solidFill>
                  <a:srgbClr val="555555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Existing solutions — three families of methods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D6E6F0"/>
                </a:solidFill>
                <a:latin typeface="Calibri"/>
              </a:rPr>
              <a:t>From an 18-method literature survey; judged by how they cope with hidden objects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371600"/>
            <a:ext cx="3758184" cy="548640"/>
          </a:xfrm>
          <a:prstGeom prst="rect">
            <a:avLst/>
          </a:prstGeom>
          <a:solidFill>
            <a:srgbClr val="0B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8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Geometry-based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920240"/>
            <a:ext cx="3758184" cy="3794760"/>
          </a:xfrm>
          <a:prstGeom prst="rect">
            <a:avLst/>
          </a:prstGeom>
          <a:solidFill>
            <a:srgbClr val="F2F5F8"/>
          </a:solidFill>
          <a:ln w="15875">
            <a:solidFill>
              <a:srgbClr val="0B5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/>
          <a:lstStyle/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1F2D3D"/>
                </a:solidFill>
                <a:latin typeface="Calibri"/>
              </a:rPr>
              <a:t>Search the 3D points directly for cylinder shapes.</a:t>
            </a:r>
          </a:p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2E7D32"/>
                </a:solidFill>
                <a:latin typeface="Calibri"/>
              </a:rPr>
              <a:t>+ Works out of the box — no training data needed.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B02A2A"/>
                </a:solidFill>
                <a:latin typeface="Calibri"/>
              </a:rPr>
              <a:t>− Needs enough visible points; touching drums get merged.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4224528" y="1371600"/>
            <a:ext cx="3758184" cy="5486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8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Learning-based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224528" y="1920240"/>
            <a:ext cx="3758184" cy="3794760"/>
          </a:xfrm>
          <a:prstGeom prst="rect">
            <a:avLst/>
          </a:prstGeom>
          <a:solidFill>
            <a:srgbClr val="F2F5F8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/>
          <a:lstStyle/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1F2D3D"/>
                </a:solidFill>
                <a:latin typeface="Calibri"/>
              </a:rPr>
              <a:t>A neural network learns what partial barrels look like from many examples.</a:t>
            </a:r>
          </a:p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2E7D32"/>
                </a:solidFill>
                <a:latin typeface="Calibri"/>
              </a:rPr>
              <a:t>+ Can recognise a barrel from a small fragment.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B02A2A"/>
                </a:solidFill>
                <a:latin typeface="Calibri"/>
              </a:rPr>
              <a:t>− Needs lots of labelled training examples first.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8083296" y="1371600"/>
            <a:ext cx="3758184" cy="548640"/>
          </a:xfrm>
          <a:prstGeom prst="rect">
            <a:avLst/>
          </a:prstGeom>
          <a:solidFill>
            <a:srgbClr val="B7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8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Camera + LiDAR</a:t>
            </a:r>
          </a:p>
        </p:txBody>
      </p:sp>
      <p:sp>
        <p:nvSpPr>
          <p:cNvPr id="9" name="Rectangle 8"/>
          <p:cNvSpPr/>
          <p:nvPr/>
        </p:nvSpPr>
        <p:spPr>
          <a:xfrm>
            <a:off x="8083296" y="1920240"/>
            <a:ext cx="3758184" cy="3794760"/>
          </a:xfrm>
          <a:prstGeom prst="rect">
            <a:avLst/>
          </a:prstGeom>
          <a:solidFill>
            <a:srgbClr val="F2F5F8"/>
          </a:solidFill>
          <a:ln w="15875">
            <a:solidFill>
              <a:srgbClr val="B76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/>
          <a:lstStyle/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1F2D3D"/>
                </a:solidFill>
                <a:latin typeface="Calibri"/>
              </a:rPr>
              <a:t>Combine colour images with the 3D points.</a:t>
            </a:r>
          </a:p>
          <a:p>
            <a:pPr algn="l">
              <a:spcAft>
                <a:spcPts val="1200"/>
              </a:spcAft>
            </a:pPr>
            <a:r>
              <a:rPr sz="1700" b="1" i="0">
                <a:solidFill>
                  <a:srgbClr val="2E7D32"/>
                </a:solidFill>
                <a:latin typeface="Calibri"/>
              </a:rPr>
              <a:t>+ If one sensor is blocked, the other still sees the object.</a:t>
            </a:r>
          </a:p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B02A2A"/>
                </a:solidFill>
                <a:latin typeface="Calibri"/>
              </a:rPr>
              <a:t>− Both sensors must be aligned precisely — errors break the pairing.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897880"/>
            <a:ext cx="11475720" cy="502920"/>
          </a:xfrm>
          <a:prstGeom prst="rect">
            <a:avLst/>
          </a:prstGeom>
          <a:solidFill>
            <a:srgbClr val="E3EEF5"/>
          </a:solidFill>
          <a:ln w="19050">
            <a:solidFill>
              <a:srgbClr val="0B5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>
              <a:spcAft>
                <a:spcPts val="800"/>
              </a:spcAft>
            </a:pPr>
            <a:r>
              <a:rPr sz="2000" b="1" i="0">
                <a:solidFill>
                  <a:srgbClr val="0B5C8A"/>
                </a:solidFill>
                <a:latin typeface="Calibri"/>
              </a:rPr>
              <a:t>We compare all three families on the same data — geometry first, since it needs no training data.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Detection and Robotic Manipulation of Partially Occluded Object(s)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2144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0" i="0">
                <a:solidFill>
                  <a:srgbClr val="555555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The data we test every method on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D6E6F0"/>
                </a:solidFill>
                <a:latin typeface="Calibri"/>
              </a:rPr>
              <a:t>Three data sets — difficulty increases left to right</a:t>
            </a:r>
          </a:p>
        </p:txBody>
      </p:sp>
      <p:pic>
        <p:nvPicPr>
          <p:cNvPr id="4" name="Picture 3" descr="test_data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04403"/>
            <a:ext cx="11612880" cy="412351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5760" y="5897880"/>
            <a:ext cx="11475720" cy="502920"/>
          </a:xfrm>
          <a:prstGeom prst="rect">
            <a:avLst/>
          </a:prstGeom>
          <a:solidFill>
            <a:srgbClr val="E3EEF5"/>
          </a:solidFill>
          <a:ln w="19050">
            <a:solidFill>
              <a:srgbClr val="0B5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>
              <a:spcAft>
                <a:spcPts val="800"/>
              </a:spcAft>
            </a:pPr>
            <a:r>
              <a:rPr sz="2000" b="1" i="0">
                <a:solidFill>
                  <a:srgbClr val="0B5C8A"/>
                </a:solidFill>
                <a:latin typeface="Calibri"/>
              </a:rPr>
              <a:t>Synthetic clouds tell us the best case; the real pile tells us the truth.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Detection and Robotic Manipulation of Partially Occluded Object(s)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0" i="0">
                <a:solidFill>
                  <a:srgbClr val="555555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Four geometry-based methods implemented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1338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00"/>
              </a:spcAft>
            </a:pPr>
            <a:r>
              <a:rPr sz="2100" b="0" i="0">
                <a:solidFill>
                  <a:srgbClr val="1F2D3D"/>
                </a:solidFill>
                <a:latin typeface="Calibri"/>
              </a:rPr>
              <a:t>• 3DTK Hough (baseline) — every point votes for the cylinders it could lie on; the strongest vote wins.</a:t>
            </a:r>
          </a:p>
          <a:p>
            <a:pPr algn="l">
              <a:spcAft>
                <a:spcPts val="2200"/>
              </a:spcAft>
            </a:pPr>
            <a:r>
              <a:rPr sz="2100" b="0" i="0">
                <a:solidFill>
                  <a:srgbClr val="1F2D3D"/>
                </a:solidFill>
                <a:latin typeface="Calibri"/>
              </a:rPr>
              <a:t>• RANSAC fit — try many random small point samples, keep the cylinder most points agree with.</a:t>
            </a:r>
          </a:p>
          <a:p>
            <a:pPr algn="l">
              <a:spcAft>
                <a:spcPts val="2200"/>
              </a:spcAft>
            </a:pPr>
            <a:r>
              <a:rPr sz="2100" b="0" i="0">
                <a:solidFill>
                  <a:srgbClr val="1F2D3D"/>
                </a:solidFill>
                <a:latin typeface="Calibri"/>
              </a:rPr>
              <a:t>• Least-squares fit — start from a rough guess, then adjust the cylinder until it matches the points best.</a:t>
            </a:r>
          </a:p>
          <a:p>
            <a:pPr algn="l">
              <a:spcAft>
                <a:spcPts val="2200"/>
              </a:spcAft>
            </a:pPr>
            <a:r>
              <a:rPr sz="2100" b="0" i="0">
                <a:solidFill>
                  <a:srgbClr val="1F2D3D"/>
                </a:solidFill>
                <a:latin typeface="Calibri"/>
              </a:rPr>
              <a:t>• Efficient RANSAC — a faster RANSAC variant that searches the whole scene for shapes in one pass.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5943600"/>
            <a:ext cx="11475720" cy="502920"/>
          </a:xfrm>
          <a:prstGeom prst="rect">
            <a:avLst/>
          </a:prstGeom>
          <a:solidFill>
            <a:srgbClr val="E3EEF5"/>
          </a:solidFill>
          <a:ln w="19050">
            <a:solidFill>
              <a:srgbClr val="0B5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>
              <a:spcAft>
                <a:spcPts val="800"/>
              </a:spcAft>
            </a:pPr>
            <a:r>
              <a:rPr sz="2000" b="1" i="0">
                <a:solidFill>
                  <a:srgbClr val="0B5C8A"/>
                </a:solidFill>
                <a:latin typeface="Calibri"/>
              </a:rPr>
              <a:t>All four: LiDAR points only · no training data · identical input and output — directly comparable.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Detection and Robotic Manipulation of Partially Occluded Object(s)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0" i="0">
                <a:solidFill>
                  <a:srgbClr val="555555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How we evaluate — one pipeline for every method</a:t>
            </a:r>
          </a:p>
        </p:txBody>
      </p:sp>
      <p:pic>
        <p:nvPicPr>
          <p:cNvPr id="4" name="Picture 3" descr="pipeline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324279"/>
            <a:ext cx="11612880" cy="248376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65760" y="5852160"/>
            <a:ext cx="11475720" cy="502920"/>
          </a:xfrm>
          <a:prstGeom prst="rect">
            <a:avLst/>
          </a:prstGeom>
          <a:solidFill>
            <a:srgbClr val="E3EEF5"/>
          </a:solidFill>
          <a:ln w="19050">
            <a:solidFill>
              <a:srgbClr val="0B5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>
              <a:spcAft>
                <a:spcPts val="800"/>
              </a:spcAft>
            </a:pPr>
            <a:r>
              <a:rPr sz="2000" b="1" i="0">
                <a:solidFill>
                  <a:srgbClr val="0B5C8A"/>
                </a:solidFill>
                <a:latin typeface="Calibri"/>
              </a:rPr>
              <a:t>A prediction counts as correct if direction is within 30° and the centre within 10 cm of the true drum.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Detection and Robotic Manipulation of Partially Occluded Object(s)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0" i="0">
                <a:solidFill>
                  <a:srgbClr val="555555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Experiment 1 — how much noise can each method take?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D6E6F0"/>
                </a:solidFill>
                <a:latin typeface="Calibri"/>
              </a:rPr>
              <a:t>The synthetic barrel (120° visible) at 11 noise levels × 3 repeats = 33 test clouds</a:t>
            </a:r>
          </a:p>
        </p:txBody>
      </p:sp>
      <p:pic>
        <p:nvPicPr>
          <p:cNvPr id="4" name="Picture 3" descr="synth_noise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88" y="1325880"/>
            <a:ext cx="11108263" cy="37490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074920"/>
            <a:ext cx="11155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2E7D32"/>
                </a:solidFill>
                <a:latin typeface="Calibri"/>
              </a:rPr>
              <a:t>• RANSAC and least-squares find the barrel at every noise level (F1 = 1.00 / 1.00).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B76E00"/>
                </a:solidFill>
                <a:latin typeface="Calibri"/>
              </a:rPr>
              <a:t>• Efficient RANSAC degrades first; the Hough baseline is erratic — it even misses some clean scenes.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555555"/>
                </a:solidFill>
                <a:latin typeface="Calibri"/>
              </a:rPr>
              <a:t>• Least-squares is the most precise but ~5–10× slower than the others (~17 s per scene).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Detection and Robotic Manipulation of Partially Occluded Object(s)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0" i="0">
                <a:solidFill>
                  <a:srgbClr val="555555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Experiment 2 — the real lab barrel, no occlusion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D6E6F0"/>
                </a:solidFill>
                <a:latin typeface="Calibri"/>
              </a:rPr>
              <a:t>Depth-camera scan; true radius 4.25 cm</a:t>
            </a:r>
          </a:p>
        </p:txBody>
      </p:sp>
      <p:pic>
        <p:nvPicPr>
          <p:cNvPr id="4" name="Picture 3" descr="real_3d_d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0562" y="1371600"/>
            <a:ext cx="1765116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2880" y="580644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0" i="0">
                <a:solidFill>
                  <a:srgbClr val="555555"/>
                </a:solidFill>
                <a:latin typeface="Calibri"/>
              </a:rPr>
              <a:t>camera points (coloured) with the fitted cylinder (red)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06240" y="1600200"/>
          <a:ext cx="763524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148840"/>
                <a:gridCol w="1554480"/>
                <a:gridCol w="1554480"/>
              </a:tblGrid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anchor="ctr" marT="38100" marB="38100">
                    <a:solidFill>
                      <a:srgbClr val="0B5C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Barrel found?</a:t>
                      </a:r>
                    </a:p>
                  </a:txBody>
                  <a:tcPr anchor="ctr" marT="38100" marB="38100">
                    <a:solidFill>
                      <a:srgbClr val="0B5C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Radius error</a:t>
                      </a:r>
                    </a:p>
                  </a:txBody>
                  <a:tcPr anchor="ctr" marT="38100" marB="38100">
                    <a:solidFill>
                      <a:srgbClr val="0B5C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Direction error</a:t>
                      </a:r>
                    </a:p>
                  </a:txBody>
                  <a:tcPr anchor="ctr" marT="38100" marB="38100">
                    <a:solidFill>
                      <a:srgbClr val="0B5C8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D3D"/>
                          </a:solidFill>
                          <a:latin typeface="Calibri"/>
                        </a:rPr>
                        <a:t>RANSAC fit</a:t>
                      </a:r>
                    </a:p>
                  </a:txBody>
                  <a:tcPr anchor="ctr" marT="38100" marB="38100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D3D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 marT="38100" marB="38100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D3D"/>
                          </a:solidFill>
                          <a:latin typeface="Calibri"/>
                        </a:rPr>
                        <a:t>0.38 cm</a:t>
                      </a:r>
                    </a:p>
                  </a:txBody>
                  <a:tcPr anchor="ctr" marT="38100" marB="38100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D3D"/>
                          </a:solidFill>
                          <a:latin typeface="Calibri"/>
                        </a:rPr>
                        <a:t>1.9°</a:t>
                      </a:r>
                    </a:p>
                  </a:txBody>
                  <a:tcPr anchor="ctr" marT="38100" marB="38100">
                    <a:solidFill>
                      <a:srgbClr val="F2F5F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D3D"/>
                          </a:solidFill>
                          <a:latin typeface="Calibri"/>
                        </a:rPr>
                        <a:t>Least-squares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D3D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D3D"/>
                          </a:solidFill>
                          <a:latin typeface="Calibri"/>
                        </a:rPr>
                        <a:t>0.47 cm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D3D"/>
                          </a:solidFill>
                          <a:latin typeface="Calibri"/>
                        </a:rPr>
                        <a:t>1.6°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D3D"/>
                          </a:solidFill>
                          <a:latin typeface="Calibri"/>
                        </a:rPr>
                        <a:t>Efficient RANSAC</a:t>
                      </a:r>
                    </a:p>
                  </a:txBody>
                  <a:tcPr anchor="ctr" marT="38100" marB="38100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D3D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 marT="38100" marB="38100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D3D"/>
                          </a:solidFill>
                          <a:latin typeface="Calibri"/>
                        </a:rPr>
                        <a:t>0.94 cm</a:t>
                      </a:r>
                    </a:p>
                  </a:txBody>
                  <a:tcPr anchor="ctr" marT="38100" marB="38100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D3D"/>
                          </a:solidFill>
                          <a:latin typeface="Calibri"/>
                        </a:rPr>
                        <a:t>0.1°</a:t>
                      </a:r>
                    </a:p>
                  </a:txBody>
                  <a:tcPr anchor="ctr" marT="38100" marB="38100">
                    <a:solidFill>
                      <a:srgbClr val="F2F5F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D3D"/>
                          </a:solidFill>
                          <a:latin typeface="Calibri"/>
                        </a:rPr>
                        <a:t>3DTK Hough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D3D"/>
                          </a:solidFill>
                          <a:latin typeface="Calibri"/>
                        </a:rPr>
                        <a:t>yes + 1 false alarm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D3D"/>
                          </a:solidFill>
                          <a:latin typeface="Calibri"/>
                        </a:rPr>
                        <a:t>0.09 cm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D3D"/>
                          </a:solidFill>
                          <a:latin typeface="Calibri"/>
                        </a:rPr>
                        <a:t>1.5°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297680" y="4480560"/>
            <a:ext cx="749807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 i="0">
                <a:solidFill>
                  <a:srgbClr val="2E7D32"/>
                </a:solidFill>
                <a:latin typeface="Calibri"/>
              </a:rPr>
              <a:t>• All four methods find the barrel.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B76E00"/>
                </a:solidFill>
                <a:latin typeface="Calibri"/>
              </a:rPr>
              <a:t>• Errors are ~6–8× larger than on synthetic data — real sensor noise is not the clean noise we simulate.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Detection and Robotic Manipulation of Partially Occluded Object(s)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0" i="0">
                <a:solidFill>
                  <a:srgbClr val="555555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Experiment 3 — a real occluded drum from the pile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D6E6F0"/>
                </a:solidFill>
                <a:latin typeface="Calibri"/>
              </a:rPr>
              <a:t>One tilted, half-buried 200 L drum cut out of the survey scan</a:t>
            </a:r>
          </a:p>
        </p:txBody>
      </p:sp>
      <p:pic>
        <p:nvPicPr>
          <p:cNvPr id="4" name="Picture 3" descr="real_fits_on_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543" y="1371600"/>
            <a:ext cx="6466114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0040" y="5504688"/>
            <a:ext cx="6675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0" i="0">
                <a:solidFill>
                  <a:srgbClr val="555555"/>
                </a:solidFill>
                <a:latin typeface="Calibri"/>
              </a:rPr>
              <a:t>true drum (green) vs fitted cylinders on the real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0" y="150876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 i="0">
                <a:solidFill>
                  <a:srgbClr val="B02A2A"/>
                </a:solidFill>
                <a:latin typeface="Calibri"/>
              </a:rPr>
              <a:t>• All four methods fail the accuracy gate here.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F2D3D"/>
                </a:solidFill>
                <a:latin typeface="Calibri"/>
              </a:rPr>
              <a:t>• Best attempt (least-squares): direction good (17°), centre off by 11.1 cm — misses the 10 cm gate by 1.1 cm.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F2D3D"/>
                </a:solidFill>
                <a:latin typeface="Calibri"/>
              </a:rPr>
              <a:t>• The others: direction far off, or no detection at all.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5925312"/>
            <a:ext cx="11475720" cy="502920"/>
          </a:xfrm>
          <a:prstGeom prst="rect">
            <a:avLst/>
          </a:prstGeom>
          <a:solidFill>
            <a:srgbClr val="E3EEF5"/>
          </a:solidFill>
          <a:ln w="19050">
            <a:solidFill>
              <a:srgbClr val="B76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>
              <a:spcAft>
                <a:spcPts val="800"/>
              </a:spcAft>
            </a:pPr>
            <a:r>
              <a:rPr sz="2000" b="1" i="0">
                <a:solidFill>
                  <a:srgbClr val="B76E00"/>
                </a:solidFill>
                <a:latin typeface="Calibri"/>
              </a:rPr>
              <a:t>Occlusion is exactly where the classical methods break — motivating a learned method.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Detection and Robotic Manipulation of Partially Occluded Object(s)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0" i="0">
                <a:solidFill>
                  <a:srgbClr val="555555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New: BarrelNet — our first learning-based method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D6E6F0"/>
                </a:solidFill>
                <a:latin typeface="Calibri"/>
              </a:rPr>
              <a:t>A neural network that gets the points of ONE drum and outputs its pose (centre + direction)</a:t>
            </a:r>
          </a:p>
        </p:txBody>
      </p:sp>
      <p:pic>
        <p:nvPicPr>
          <p:cNvPr id="4" name="Picture 3" descr="synth_patches_s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9738"/>
            <a:ext cx="11475720" cy="30984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4709160"/>
            <a:ext cx="11475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0" i="0">
                <a:solidFill>
                  <a:srgbClr val="555555"/>
                </a:solidFill>
                <a:latin typeface="Calibri"/>
              </a:rPr>
              <a:t>examples of the synthetic training patches: simulated LiDAR points (red) on the drum surface (blue)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749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 i="0">
                <a:solidFill>
                  <a:srgbClr val="1F2D3D"/>
                </a:solidFill>
                <a:latin typeface="Calibri"/>
              </a:rPr>
              <a:t>• Trained on 12,000 such patches — buried, tilted, noisy, incomplete.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5943600"/>
            <a:ext cx="11475720" cy="502920"/>
          </a:xfrm>
          <a:prstGeom prst="rect">
            <a:avLst/>
          </a:prstGeom>
          <a:solidFill>
            <a:srgbClr val="E3EEF5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>
              <a:spcAft>
                <a:spcPts val="800"/>
              </a:spcAft>
            </a:pPr>
            <a:r>
              <a:rPr sz="2000" b="1" i="0">
                <a:solidFill>
                  <a:srgbClr val="2E7D32"/>
                </a:solidFill>
                <a:latin typeface="Calibri"/>
              </a:rPr>
              <a:t>No real data in training: the 21 hand-verified real drums are kept aside as an honest test.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Detection and Robotic Manipulation of Partially Occluded Object(s)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0" i="0">
                <a:solidFill>
                  <a:srgbClr val="555555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BarrelNet — how the score develops during training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D6E6F0"/>
                </a:solidFill>
                <a:latin typeface="Calibri"/>
              </a:rPr>
              <a:t>Same network trained twice: laptop CPU (stopped early) vs GPU server (full schedule)</a:t>
            </a:r>
          </a:p>
        </p:txBody>
      </p:sp>
      <p:pic>
        <p:nvPicPr>
          <p:cNvPr id="4" name="Picture 3" descr="barrelnet_epoch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52055"/>
            <a:ext cx="11658600" cy="36338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12064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 i="0">
                <a:solidFill>
                  <a:srgbClr val="2E7D32"/>
                </a:solidFill>
                <a:latin typeface="Calibri"/>
              </a:rPr>
              <a:t>• Finishing the full training schedule nearly doubled the score: 7 → 12 of 21 real drums.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F2D3D"/>
                </a:solidFill>
                <a:latin typeface="Calibri"/>
              </a:rPr>
              <a:t>• The direction is learned early; the centre position improves late — it crosses the 10 cm gate only near the end.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Detection and Robotic Manipulation of Partially Occluded Object(s)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0" i="0">
                <a:solidFill>
                  <a:srgbClr val="555555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BarrelNet on the real drum pile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D6E6F0"/>
                </a:solidFill>
                <a:latin typeface="Calibri"/>
              </a:rPr>
              <a:t>Trained purely on synthetic drums, tested on the 21 real ones</a:t>
            </a:r>
          </a:p>
        </p:txBody>
      </p:sp>
      <p:pic>
        <p:nvPicPr>
          <p:cNvPr id="4" name="Picture 3" descr="station_det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359" y="1325880"/>
            <a:ext cx="6096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5943600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0" i="0">
                <a:solidFill>
                  <a:srgbClr val="555555"/>
                </a:solidFill>
                <a:latin typeface="Calibri"/>
              </a:rPr>
              <a:t>annotated drums coloured; predicted cylinders: green = within gate, red = miss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0" y="150876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 i="0">
                <a:solidFill>
                  <a:srgbClr val="2E7D32"/>
                </a:solidFill>
                <a:latin typeface="Calibri"/>
              </a:rPr>
              <a:t>• 12 of 21 real drums located within the accuracy gate.</a:t>
            </a:r>
          </a:p>
          <a:p>
            <a:pPr algn="l">
              <a:spcAft>
                <a:spcPts val="1000"/>
              </a:spcAft>
            </a:pPr>
            <a:r>
              <a:rPr sz="1900" b="0" i="0">
                <a:solidFill>
                  <a:srgbClr val="1F2D3D"/>
                </a:solidFill>
                <a:latin typeface="Calibri"/>
              </a:rPr>
              <a:t>• Direction right on 16 of 21 drums.</a:t>
            </a:r>
          </a:p>
          <a:p>
            <a:pPr algn="l">
              <a:spcAft>
                <a:spcPts val="1000"/>
              </a:spcAft>
            </a:pPr>
            <a:r>
              <a:rPr sz="1900" b="0" i="0">
                <a:solidFill>
                  <a:srgbClr val="1F2D3D"/>
                </a:solidFill>
                <a:latin typeface="Calibri"/>
              </a:rPr>
              <a:t>• The geometric methods scored 0 on this kind of drum.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555555"/>
                </a:solidFill>
                <a:latin typeface="Calibri"/>
              </a:rPr>
              <a:t>• Open point: BarrelNet estimates the pose of a drum it is given — finding the drums in the pile still needs a separate first step.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Detection and Robotic Manipulation of Partially Occluded Object(s)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0" i="0">
                <a:solidFill>
                  <a:srgbClr val="555555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What limits the evaluation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112471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0" i="0">
                <a:solidFill>
                  <a:srgbClr val="1F2D3D"/>
                </a:solidFill>
                <a:latin typeface="Calibri"/>
              </a:rPr>
              <a:t>• Our synthetic scenes still cannot imitate a truly buried, cluttered pile.</a:t>
            </a:r>
          </a:p>
          <a:p>
            <a:pPr algn="l">
              <a:spcAft>
                <a:spcPts val="1000"/>
              </a:spcAft>
            </a:pPr>
            <a:r>
              <a:rPr sz="2100" b="0" i="0">
                <a:solidFill>
                  <a:srgbClr val="1F2D3D"/>
                </a:solidFill>
                <a:latin typeface="Calibri"/>
              </a:rPr>
              <a:t>• Real sensor noise is harder than anything we simulate — Experiment 2 showed 6–8× larger errors.</a:t>
            </a:r>
          </a:p>
          <a:p>
            <a:pPr algn="l">
              <a:spcAft>
                <a:spcPts val="1000"/>
              </a:spcAft>
            </a:pPr>
            <a:r>
              <a:rPr sz="2100" b="0" i="0">
                <a:solidFill>
                  <a:srgbClr val="1F2D3D"/>
                </a:solidFill>
                <a:latin typeface="Calibri"/>
              </a:rPr>
              <a:t>• Only 21 real drums are labelled (~30% of the pile) — too few for strong statistics.</a:t>
            </a:r>
          </a:p>
          <a:p>
            <a:pPr algn="l">
              <a:spcAft>
                <a:spcPts val="1000"/>
              </a:spcAft>
            </a:pPr>
            <a:r>
              <a:rPr sz="2100" b="0" i="0">
                <a:solidFill>
                  <a:srgbClr val="1F2D3D"/>
                </a:solidFill>
                <a:latin typeface="Calibri"/>
              </a:rPr>
              <a:t>• Some labels are imperfect: two drums lying end-to-end were annotated as one.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5897880"/>
            <a:ext cx="11475720" cy="502920"/>
          </a:xfrm>
          <a:prstGeom prst="rect">
            <a:avLst/>
          </a:prstGeom>
          <a:solidFill>
            <a:srgbClr val="E3EEF5"/>
          </a:solidFill>
          <a:ln w="19050">
            <a:solidFill>
              <a:srgbClr val="0B5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>
              <a:spcAft>
                <a:spcPts val="800"/>
              </a:spcAft>
            </a:pPr>
            <a:r>
              <a:rPr sz="2000" b="1" i="0">
                <a:solidFill>
                  <a:srgbClr val="0B5C8A"/>
                </a:solidFill>
                <a:latin typeface="Calibri"/>
              </a:rPr>
              <a:t>The evaluation machinery works — what is missing is more and better ground-truth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Detection and Robotic Manipulation of Partially Occluded Object(s)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0" i="0">
                <a:solidFill>
                  <a:srgbClr val="555555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Next step: simulation closes the data gap</a:t>
            </a:r>
          </a:p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D6E6F0"/>
                </a:solidFill>
                <a:latin typeface="Calibri"/>
              </a:rPr>
              <a:t>NVIDIA Isaac Sim gives unlimited scenes with perfect ground truth</a:t>
            </a:r>
          </a:p>
        </p:txBody>
      </p:sp>
      <p:pic>
        <p:nvPicPr>
          <p:cNvPr id="4" name="Picture 3" descr="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2515" y="1463040"/>
            <a:ext cx="7336489" cy="2377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977639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1F2D3D"/>
                </a:solidFill>
                <a:latin typeface="Calibri"/>
              </a:rPr>
              <a:t>• Every simulated drum comes with its exact pose and its exact degree of burial — labels for free.</a:t>
            </a:r>
          </a:p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1F2D3D"/>
                </a:solidFill>
                <a:latin typeface="Calibri"/>
              </a:rPr>
              <a:t>• That enables the headline experiment: detection quality as a function of how much of the drum is hidden.</a:t>
            </a:r>
          </a:p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1F2D3D"/>
                </a:solidFill>
                <a:latin typeface="Calibri"/>
              </a:rPr>
              <a:t>• And it unlocks the remaining families: more learned methods and camera + LiDAR fusion.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Detection and Robotic Manipulation of Partially Occluded Object(s)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0" i="0">
                <a:solidFill>
                  <a:srgbClr val="555555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Open risks — and how we deal with them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371600"/>
          <a:ext cx="1138428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2080"/>
                <a:gridCol w="6172200"/>
              </a:tblGrid>
              <a:tr h="859536"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Risk</a:t>
                      </a:r>
                    </a:p>
                  </a:txBody>
                  <a:tcPr anchor="ctr" marT="38100" marB="38100">
                    <a:solidFill>
                      <a:srgbClr val="0B5C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How we deal with it</a:t>
                      </a:r>
                    </a:p>
                  </a:txBody>
                  <a:tcPr anchor="ctr" marT="38100" marB="38100">
                    <a:solidFill>
                      <a:srgbClr val="0B5C8A"/>
                    </a:solidFill>
                  </a:tcPr>
                </a:tc>
              </a:tr>
              <a:tr h="859536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2D3D"/>
                          </a:solidFill>
                          <a:latin typeface="Calibri"/>
                        </a:rPr>
                        <a:t>Detection accuracy collapses under occlusion (seen across the field, e.g. −47% for LiDAR-only in a 2025 study)</a:t>
                      </a:r>
                    </a:p>
                  </a:txBody>
                  <a:tcPr anchor="ctr" marT="38100" marB="38100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2D3D"/>
                          </a:solidFill>
                          <a:latin typeface="Calibri"/>
                        </a:rPr>
                        <a:t>Measure it systematically per method (occlusion sweep) instead of assuming — that comparison IS the thesis.</a:t>
                      </a:r>
                    </a:p>
                  </a:txBody>
                  <a:tcPr anchor="ctr" marT="38100" marB="38100">
                    <a:solidFill>
                      <a:srgbClr val="F2F5F8"/>
                    </a:solidFill>
                  </a:tcPr>
                </a:tc>
              </a:tr>
              <a:tr h="859536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2D3D"/>
                          </a:solidFill>
                          <a:latin typeface="Calibri"/>
                        </a:rPr>
                        <a:t>One sensor alone may never be reliable enough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2D3D"/>
                          </a:solidFill>
                          <a:latin typeface="Calibri"/>
                        </a:rPr>
                        <a:t>Camera + LiDAR fusion is planned; literature shows fusion degrades far more gracefully.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  <a:tr h="859536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2D3D"/>
                          </a:solidFill>
                          <a:latin typeface="Calibri"/>
                        </a:rPr>
                        <a:t>Models trained in simulation may not transfer to reality</a:t>
                      </a:r>
                    </a:p>
                  </a:txBody>
                  <a:tcPr anchor="ctr" marT="38100" marB="38100"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2D3D"/>
                          </a:solidFill>
                          <a:latin typeface="Calibri"/>
                        </a:rPr>
                        <a:t>BarrelNet already measures this transfer on 21 real drums (12/21); next: fine-tune on a handful of real drums.</a:t>
                      </a:r>
                    </a:p>
                  </a:txBody>
                  <a:tcPr anchor="ctr" marT="38100" marB="38100">
                    <a:solidFill>
                      <a:srgbClr val="F2F5F8"/>
                    </a:solidFill>
                  </a:tcPr>
                </a:tc>
              </a:tr>
              <a:tr h="859536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F2D3D"/>
                          </a:solidFill>
                          <a:latin typeface="Calibri"/>
                        </a:rPr>
                        <a:t>The manipulation half of the title is not started yet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F2D3D"/>
                          </a:solidFill>
                          <a:latin typeface="Calibri"/>
                        </a:rPr>
                        <a:t>Detection outputs exactly the pose a grasp planner needs; manipulation follows the method comparison.</a:t>
                      </a:r>
                    </a:p>
                  </a:txBody>
                  <a:tcPr anchor="ctr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897880"/>
            <a:ext cx="11384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0" i="0">
                <a:solidFill>
                  <a:srgbClr val="555555"/>
                </a:solidFill>
                <a:latin typeface="Calibri"/>
              </a:rPr>
              <a:t>occlusion numbers: [Shi'19] arXiv:1812.04244 · [Kumar'25] arXiv:2511.04347 · [Wang'25] Sensors 25(9):2794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Detection and Robotic Manipulation of Partially Occluded Object(s)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0" i="0">
                <a:solidFill>
                  <a:srgbClr val="555555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5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11247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 i="0">
                <a:solidFill>
                  <a:srgbClr val="1F2D3D"/>
                </a:solidFill>
                <a:latin typeface="Calibri"/>
              </a:rPr>
              <a:t>• One fair evaluation pipeline — every method, same data, same score.</a:t>
            </a:r>
          </a:p>
          <a:p>
            <a:pPr algn="l">
              <a:spcAft>
                <a:spcPts val="1000"/>
              </a:spcAft>
            </a:pPr>
            <a:r>
              <a:rPr sz="2200" b="0" i="0">
                <a:solidFill>
                  <a:srgbClr val="1F2D3D"/>
                </a:solidFill>
                <a:latin typeface="Calibri"/>
              </a:rPr>
              <a:t>• Four geometry-based methods work well on visible barrels — and all fail on a truly occluded one.</a:t>
            </a:r>
          </a:p>
          <a:p>
            <a:pPr algn="l">
              <a:spcAft>
                <a:spcPts val="1000"/>
              </a:spcAft>
            </a:pPr>
            <a:r>
              <a:rPr sz="2200" b="0" i="0">
                <a:solidFill>
                  <a:srgbClr val="2E7D32"/>
                </a:solidFill>
                <a:latin typeface="Calibri"/>
              </a:rPr>
              <a:t>• BarrelNet, trained only on synthetic drums, already finds 12 of 21 real occluded drums.</a:t>
            </a:r>
          </a:p>
          <a:p>
            <a:pPr algn="l">
              <a:spcAft>
                <a:spcPts val="1000"/>
              </a:spcAft>
            </a:pPr>
            <a:r>
              <a:rPr sz="2200" b="0" i="0">
                <a:solidFill>
                  <a:srgbClr val="1F2D3D"/>
                </a:solidFill>
                <a:latin typeface="Calibri"/>
              </a:rPr>
              <a:t>• Next: simulation-generated data for the occlusion sweep, fine-tuning, and sensor fusion.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5897880"/>
            <a:ext cx="11475720" cy="502920"/>
          </a:xfrm>
          <a:prstGeom prst="rect">
            <a:avLst/>
          </a:prstGeom>
          <a:solidFill>
            <a:srgbClr val="E3EEF5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>
              <a:spcAft>
                <a:spcPts val="800"/>
              </a:spcAft>
            </a:pPr>
            <a:r>
              <a:rPr sz="2000" b="1" i="0">
                <a:solidFill>
                  <a:srgbClr val="2E7D32"/>
                </a:solidFill>
                <a:latin typeface="Calibri"/>
              </a:rPr>
              <a:t>Learned + simulated is the promising path for occluded drums — and we can now measure exactly how promising.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739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 i="0">
                <a:solidFill>
                  <a:srgbClr val="555555"/>
                </a:solidFill>
                <a:latin typeface="Calibri"/>
              </a:rPr>
              <a:t>Detection and Robotic Manipulation of Partially Occluded Object(s)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</a:pPr>
            <a:r>
              <a:rPr sz="1100" b="0" i="0">
                <a:solidFill>
                  <a:srgbClr val="555555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