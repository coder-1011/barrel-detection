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Detection and Manipulation of Semi-Occluded Objects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9FC5DD"/>
                </a:solidFill>
                <a:latin typeface="Calibri"/>
              </a:rPr>
              <a:t>Barrel detection in 3D point clouds — benchmarking LiDAR-only and camera–LiDAR fusion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6E0"/>
                </a:solidFill>
                <a:latin typeface="Calibri"/>
              </a:rPr>
              <a:t>Master's thesis  ·  Bharath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Approach: a method-agnostic benchmark, scaled to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Standardised I/O contract: every detector consumes the same point cloud and emits a parametric cylinder (radius, axis, axis-point, extent) — evaluation is therefore method-agnostic and identical across methods.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5C8A"/>
                </a:solidFill>
                <a:latin typeface="Calibri"/>
              </a:rPr>
              <a:t>• Stage 1 — establish and validate the metric fit on controlled input:</a:t>
            </a:r>
          </a:p>
          <a:p>
            <a:pPr algn="l" lvl="1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– synthetic clouds with analytic ground truth, plus real depth captures for sim-to-real transfer.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5C8A"/>
                </a:solidFill>
                <a:latin typeface="Calibri"/>
              </a:rPr>
              <a:t>• Stage 2 — scale ground-truthed data generation with NVIDIA Isaac Sim:</a:t>
            </a:r>
          </a:p>
          <a:p>
            <a:pPr algn="l" lvl="1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– per-barrel pose/size/count, instance &amp; semantic segmentation, RTX LiDAR matched to the real sensor with a co-registered camera; scripted occlusion, burial depth and inter-barrel spacing.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5C8A"/>
                </a:solidFill>
                <a:latin typeface="Calibri"/>
              </a:rPr>
              <a:t>• Stage 3 — extend the benchmark from LiDAR-only geometric to learned detectors and camera–LiDAR fusion, scored on the same metrics.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Metrics: precision / recall / F1, radius RMSE, axis-angle error, recall vs. occlusion fraction, runtime; annotation/training cost tracked so geometric and learned methods compare fairly.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Validation on synthetic clouds with analytic ground truth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6E6F0"/>
                </a:solidFill>
                <a:latin typeface="Calibri"/>
              </a:rPr>
              <a:t>Generated cylinders with analytic radial normals — exact (radius, axis, centre) known</a:t>
            </a:r>
          </a:p>
        </p:txBody>
      </p:sp>
      <p:pic>
        <p:nvPicPr>
          <p:cNvPr id="4" name="Picture 3" descr="synth_3d_det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12" y="1417320"/>
            <a:ext cx="1535375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3D: fitted barrel + synthetic points</a:t>
            </a:r>
          </a:p>
        </p:txBody>
      </p:sp>
      <p:pic>
        <p:nvPicPr>
          <p:cNvPr id="6" name="Picture 5" descr="synth_det_vs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77340"/>
            <a:ext cx="4389120" cy="3977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5760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2D overlay: detected (red) vs ground truth (green)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Red = detected cylinder, green = ground truth — near-exact overlap.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Set spans a one-sided ~120° arc (Xtion-like partial view) and an additive Gaussian-noise sweep (σ = n0.1–0.3).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Top methods: P = R = F1 = 1.00; radius RMSE &lt; 0.5 cm; axis-angle error &lt; 0.5°.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Upper bound on fit accuracy where truth is exact, before real-sensor noise.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76E00"/>
                </a:solidFill>
                <a:latin typeface="Calibri"/>
              </a:rPr>
              <a:t>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Transfer to real depth captures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6E6F0"/>
                </a:solidFill>
                <a:latin typeface="Calibri"/>
              </a:rPr>
              <a:t>Asus Xtion Pro, single barrel, ~180° of the surface visible (one-sided view)</a:t>
            </a:r>
          </a:p>
        </p:txBody>
      </p:sp>
      <p:pic>
        <p:nvPicPr>
          <p:cNvPr id="4" name="Picture 3" descr="real_3d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30" y="1417320"/>
            <a:ext cx="1692419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raw depth cloud</a:t>
            </a:r>
          </a:p>
        </p:txBody>
      </p:sp>
      <p:pic>
        <p:nvPicPr>
          <p:cNvPr id="6" name="Picture 5" descr="real_3d_d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029" y="1417320"/>
            <a:ext cx="172834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fitted barrel (red) + measured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D"/>
                </a:solidFill>
                <a:latin typeface="Calibri"/>
              </a:rPr>
              <a:t>• Pipeline: depth → surface-normal estimation (Open3D) → cylinder fit.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E7D32"/>
                </a:solidFill>
                <a:latin typeface="Calibri"/>
              </a:rPr>
              <a:t>• RANSAC fit: radius 4.63 cm vs. 4.25 cm physical (error 0.38 cm).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E7D32"/>
                </a:solidFill>
                <a:latin typeface="Calibri"/>
              </a:rPr>
              <a:t>• Axis-angle error 1.85° against the vertical reference.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D"/>
                </a:solidFill>
                <a:latin typeface="Calibri"/>
              </a:rPr>
              <a:t>• Real-sensor radius error ~6–8× the synthetic figure — quantifies the sim-to-real gap.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76E00"/>
                </a:solidFill>
                <a:latin typeface="Calibri"/>
              </a:rPr>
              <a:t>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Four LiDAR-only geometric detectors on identical input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6E6F0"/>
                </a:solidFill>
                <a:latin typeface="Calibri"/>
              </a:rPr>
              <a:t>Same real barrel cloud — four independent algorithms</a:t>
            </a:r>
          </a:p>
        </p:txBody>
      </p:sp>
      <p:pic>
        <p:nvPicPr>
          <p:cNvPr id="4" name="Picture 3" descr="methods_gri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109728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06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D3D"/>
                </a:solidFill>
                <a:latin typeface="Calibri"/>
              </a:rPr>
              <a:t>• 3DTK randomized 2-step Hough (baseline) · RANSAC primitive fit · nonlinear least-squares cylinder fit · Schnabel Efficient RANSAC (CGAL).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• Architecture: a clustering proposer feeds a reusable metric fit; Efficient RANSAC is self-contained (no proposer) — isolating the proposer as a confound.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• The baseline emits a phantom secondary cylinder (panel 1 centre) and is non-deterministic; the seeded fitting methods stay clean.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Quantitative accuracy on the real capture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6E6F0"/>
                </a:solidFill>
                <a:latin typeface="Calibri"/>
              </a:rPr>
              <a:t>Identical metric applied to every method (axis-angle, radius error vs. known drum)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237744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Radius error</a:t>
                      </a:r>
                    </a:p>
                  </a:txBody>
                  <a:tcPr anchor="ctr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Axis-angle error</a:t>
                      </a:r>
                    </a:p>
                  </a:txBody>
                  <a:tcPr anchor="ctr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anchor="ctr">
                    <a:solidFill>
                      <a:srgbClr val="0B5C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RANSAC primitive fit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0.38 cm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1.85°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~0.7 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Nonlinear least-squares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0.47 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1.64°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~9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Efficient RANSAC (Schnabel)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0.94 cm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0.10°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~0.05 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3DTK Hough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0.09 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1.53°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8056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• All methods recover radius to ~1 cm and axis to ~2°; operating points differ — Efficient RANSAC fastest, fitting methods most robust, the baseline over-reports (a phantom second cylinder).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B76E00"/>
                </a:solidFill>
                <a:latin typeface="Calibri"/>
              </a:rPr>
              <a:t>• Single-barrel, low-clutter scene at ~180° visibility — the discriminating regime (occlusion, burial, clutter, multiple instances) is the next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Status: implemented vs.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Implemented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Method-agnostic capture → detect → evaluate pipeline with a shared schema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4 LiDAR-only geometric detectors (Hough, RANSAC, LS, Efficient RANSAC)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Validated on synthetic ground truth + first real captures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Literature survey of ~18 methods across the three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B76E00"/>
                </a:solidFill>
                <a:latin typeface="Calibri"/>
              </a:rPr>
              <a:t>Pending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Occlusion sweep: recall and pose error vs. occlusion fraction (the headline experiment)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Learned detectors (PointNet++ / BarrelNet-style, occlusion-aware BtcDet) — require labelled training data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Multi-instance and cluttered real scenes (exercises the proposer)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Camera–LiDAR fusion pipeline (camera-first and LiDAR-first)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5C8A"/>
                </a:solidFill>
                <a:latin typeface="Calibri"/>
              </a:rPr>
              <a:t>• Validation on a real industrial test-site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Simulation pipeline &amp; fusion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5C8A"/>
                </a:solidFill>
                <a:latin typeface="Calibri"/>
              </a:rPr>
              <a:t>NVIDIA Isaac Sim — ground-truthed data engine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Replicator yields per-barrel pose/size/count, 3D boxes and instance/semantic masks for free.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RTX LiDAR matched to the real sensor; perfectly co-registered camera (known extrinsics).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Scripted scenes sweep barrel count, spacing, burial depth and mutual occlusion.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True occlusion fraction (visible/total surface points) gives a grounded x-axis for the occlusion sweep.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Supplies the labelled training set the learned detectors require.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5C8A"/>
                </a:solidFill>
                <a:latin typeface="Calibri"/>
              </a:rPr>
              <a:t>Camera–LiDAR fusion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Camera-first: image detection → frustum → constrained 3D fit (e.g. Frustum-PointNet).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LiDAR-first: 3D proposals → image verification / point painting.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Hypothesis to test, not assume: fusion's recall advantage under occlusion vs. LiDAR-only.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B5C8A"/>
                </a:solidFill>
                <a:latin typeface="Calibri"/>
              </a:rPr>
              <a:t>• Calibration-noise injection: perturb the (sim-perfect) camera–LiDAR extrinsics to find where any fusion advantage degrades — a key real-world failure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Requirement specifications &amp; dataset request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6E6F0"/>
                </a:solidFill>
                <a:latin typeface="Calibri"/>
              </a:rPr>
              <a:t>Inputs needed to parameterise the simulation and validate on real operating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5C8A"/>
                </a:solidFill>
                <a:latin typeface="Calibri"/>
              </a:rPr>
              <a:t>Target specification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What is the barrel size?  (nominal dimensions / drum standard, e.g. 200 L)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Are the barrels damaged or discoloured?  (dents, rust, crushing; surface colour &amp; finish)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How much of each barrel is occluded?  (burial, stacking, clutter — i.e. typical visible fraction)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5C8A"/>
                </a:solidFill>
                <a:latin typeface="Calibri"/>
              </a:rPr>
              <a:t>Scene specification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How many barrels per scene, and their arrangement?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Operating environment: indoor/outdoor, substrate, illumination, airborne dust.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Sensor &amp; data specification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D3D"/>
                </a:solidFill>
                <a:latin typeface="Calibri"/>
              </a:rPr>
              <a:t>• Test-site recordings: LiDAR + camera — time-synced only if available; extrinsic calibration where available.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Sensor suite: LiDAR model (channels / FoV / range), camera resolution; platform &amp; mounting (robot / drone / fixed), motion.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D3D"/>
                </a:solidFill>
                <a:latin typeface="Calibri"/>
              </a:rPr>
              <a:t>• Any annotations: barrel positions, counts, sizes (even approximate).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5C8A"/>
                </a:solidFill>
                <a:latin typeface="Calibri"/>
              </a:rPr>
              <a:t>Operational requirements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D3D"/>
                </a:solidFill>
                <a:latin typeface="Calibri"/>
              </a:rPr>
              <a:t>• Required positional &amp; radial accuracy, effective range, latency (online vs. offline), acceptable FP/FN trade-off.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Detection and Manipulation of Semi-Occluded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Summary &amp; next step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D6E6F0"/>
                </a:solidFill>
                <a:latin typeface="Calibri"/>
              </a:rPr>
              <a:t>A method-agnostic benchmark with four LiDAR-only geometric detectors is operational and quantified on synthetic and real data (radius ~1 cm, axis ~2°).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9D6E0"/>
                </a:solidFill>
                <a:latin typeface="Calibri"/>
              </a:rPr>
              <a:t>• Next: occlusion/burial sweep via Isaac Sim, learned detectors, and camera–LiDAR fusion — all on the same metrics.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9D6E0"/>
                </a:solidFill>
                <a:latin typeface="Calibri"/>
              </a:rPr>
              <a:t>• A calibrated test-site dataset would parameterise the simulation and validate under real operating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